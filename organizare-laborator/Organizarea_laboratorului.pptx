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98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17.png"/><Relationship Id="rId4" Type="http://schemas.openxmlformats.org/officeDocument/2006/relationships/hyperlink" Target="https://developer.android.com" TargetMode="External"/><Relationship Id="rId5" Type="http://schemas.openxmlformats.org/officeDocument/2006/relationships/hyperlink" Target="https://developer.android.com/studio" TargetMode="External"/><Relationship Id="rId6" Type="http://schemas.openxmlformats.org/officeDocument/2006/relationships/hyperlink" Target="https://docs.oracle.com/en/java/" TargetMode="External"/><Relationship Id="rId7" Type="http://schemas.openxmlformats.org/officeDocument/2006/relationships/hyperlink" Target="https://git-scm.com/doc" TargetMode="External"/><Relationship Id="rId8" Type="http://schemas.openxmlformats.org/officeDocument/2006/relationships/hyperlink" Target="https://docs.github.com" TargetMode="External"/><Relationship Id="rId9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822960"/>
            <a:ext cx="2651760" cy="2651760"/>
          </a:xfrm>
          <a:prstGeom prst="ellipse">
            <a:avLst/>
          </a:prstGeom>
          <a:solidFill>
            <a:srgbClr val="123A4F"/>
          </a:solidFill>
          <a:ln w="12700">
            <a:solidFill>
              <a:srgbClr val="123A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720840" y="1234440"/>
            <a:ext cx="1828800" cy="182880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00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Laboratoare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Sisteme de Operare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88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Java · XML · Git · GitHub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46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vom lucra în acest semestru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 începem cu o întrebare</a:t>
            </a:r>
            <a:endParaRPr lang="en-US" sz="1600" dirty="0"/>
          </a:p>
        </p:txBody>
      </p:sp>
      <p:sp>
        <p:nvSpPr>
          <p:cNvPr id="3" name="question0"/>
          <p:cNvSpPr/>
          <p:nvPr/>
        </p:nvSpPr>
        <p:spPr>
          <a:xfrm>
            <a:off x="548640" y="1188720"/>
            <a:ext cx="8046720" cy="1371600"/>
          </a:xfrm>
          <a:prstGeom prst="roundRect">
            <a:avLst>
              <a:gd name="adj" fmla="val 10000"/>
            </a:avLst>
          </a:prstGeom>
          <a:solidFill>
            <a:srgbClr val="123A4F"/>
          </a:solidFill>
          <a:ln w="12700">
            <a:solidFill>
              <a:srgbClr val="1F52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68680" y="1463040"/>
            <a:ext cx="822960" cy="82296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18872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este un sistem de operare?</a:t>
            </a:r>
            <a:endParaRPr lang="en-US" sz="2800" dirty="0"/>
          </a:p>
        </p:txBody>
      </p:sp>
      <p:sp>
        <p:nvSpPr>
          <p:cNvPr id="7" name="question1"/>
          <p:cNvSpPr/>
          <p:nvPr/>
        </p:nvSpPr>
        <p:spPr>
          <a:xfrm>
            <a:off x="548640" y="2880360"/>
            <a:ext cx="8046720" cy="1371600"/>
          </a:xfrm>
          <a:prstGeom prst="roundRect">
            <a:avLst>
              <a:gd name="adj" fmla="val 10000"/>
            </a:avLst>
          </a:prstGeom>
          <a:solidFill>
            <a:srgbClr val="123A4F"/>
          </a:solidFill>
          <a:ln w="12700">
            <a:solidFill>
              <a:srgbClr val="1F52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868680" y="3154680"/>
            <a:ext cx="822960" cy="82296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3832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11680" y="288036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 întâlnim sisteme de operare?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este un sistem de operare?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Software-ul care gestionează resursele unui dispozitiv și permite aplicațiilor să folosească hardware-ul.</a:t>
            </a:r>
            <a:endParaRPr lang="en-US" sz="1800" dirty="0"/>
          </a:p>
        </p:txBody>
      </p:sp>
      <p:sp>
        <p:nvSpPr>
          <p:cNvPr id="4" name="layer0"/>
          <p:cNvSpPr/>
          <p:nvPr/>
        </p:nvSpPr>
        <p:spPr>
          <a:xfrm>
            <a:off x="2194560" y="178308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2194560" y="17830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APLICAȚII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· WhatsApp · Snake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0" y="2368296"/>
            <a:ext cx="365760" cy="274320"/>
          </a:xfrm>
          <a:prstGeom prst="down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layer1"/>
          <p:cNvSpPr/>
          <p:nvPr/>
        </p:nvSpPr>
        <p:spPr>
          <a:xfrm>
            <a:off x="2194560" y="256032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2194560" y="25603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DE OPERARE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Windows · macOS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3145536"/>
            <a:ext cx="365760" cy="274320"/>
          </a:xfrm>
          <a:prstGeom prst="down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layer2"/>
          <p:cNvSpPr/>
          <p:nvPr/>
        </p:nvSpPr>
        <p:spPr>
          <a:xfrm>
            <a:off x="2194560" y="3337560"/>
            <a:ext cx="4754880" cy="566928"/>
          </a:xfrm>
          <a:prstGeom prst="roundRect">
            <a:avLst>
              <a:gd name="adj" fmla="val 16129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2194560" y="33375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RAM · ecran · stocare</a:t>
            </a:r>
            <a:endParaRPr lang="en-US" sz="1500" dirty="0"/>
          </a:p>
        </p:txBody>
      </p:sp>
      <p:sp>
        <p:nvSpPr>
          <p:cNvPr id="12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Sistemul de operare face legătura dintre aplicații și hardware.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 avem sisteme de operare?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11880" y="1417320"/>
            <a:ext cx="1920240" cy="1920240"/>
          </a:xfrm>
          <a:prstGeom prst="ellipse">
            <a:avLst/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3611880" y="1417320"/>
            <a:ext cx="1920240" cy="19202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Sisteme de operare</a:t>
            </a:r>
            <a:endParaRPr lang="en-US" sz="1800" dirty="0"/>
          </a:p>
        </p:txBody>
      </p:sp>
      <p:sp>
        <p:nvSpPr>
          <p:cNvPr id="5" name="dev0"/>
          <p:cNvSpPr/>
          <p:nvPr/>
        </p:nvSpPr>
        <p:spPr>
          <a:xfrm>
            <a:off x="457200" y="1005840"/>
            <a:ext cx="2880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94360" y="1188720"/>
            <a:ext cx="502920" cy="50292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3075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0058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Laptop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macOS · Linux</a:t>
            </a:r>
            <a:endParaRPr lang="en-US" sz="1400" dirty="0"/>
          </a:p>
        </p:txBody>
      </p:sp>
      <p:sp>
        <p:nvSpPr>
          <p:cNvPr id="9" name="dev1"/>
          <p:cNvSpPr/>
          <p:nvPr/>
        </p:nvSpPr>
        <p:spPr>
          <a:xfrm>
            <a:off x="457200" y="2029968"/>
            <a:ext cx="2880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94360" y="2212848"/>
            <a:ext cx="502920" cy="50292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3317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202996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/ tabletă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iOS · HarmonyOS</a:t>
            </a:r>
            <a:endParaRPr lang="en-US" sz="1400" dirty="0"/>
          </a:p>
        </p:txBody>
      </p:sp>
      <p:sp>
        <p:nvSpPr>
          <p:cNvPr id="13" name="dev2"/>
          <p:cNvSpPr/>
          <p:nvPr/>
        </p:nvSpPr>
        <p:spPr>
          <a:xfrm>
            <a:off x="457200" y="3054096"/>
            <a:ext cx="2880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594360" y="3236976"/>
            <a:ext cx="502920" cy="50292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35584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0540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· Windows Server</a:t>
            </a:r>
            <a:endParaRPr lang="en-US" sz="1400" dirty="0"/>
          </a:p>
        </p:txBody>
      </p:sp>
      <p:sp>
        <p:nvSpPr>
          <p:cNvPr id="17" name="dev3"/>
          <p:cNvSpPr/>
          <p:nvPr/>
        </p:nvSpPr>
        <p:spPr>
          <a:xfrm>
            <a:off x="5806440" y="1005840"/>
            <a:ext cx="2880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5943600" y="1188720"/>
            <a:ext cx="502920" cy="50292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72" y="130759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583680" y="10058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Smartwatch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OS · watchOS · HarmonyOS</a:t>
            </a:r>
            <a:endParaRPr lang="en-US" sz="1400" dirty="0"/>
          </a:p>
        </p:txBody>
      </p:sp>
      <p:sp>
        <p:nvSpPr>
          <p:cNvPr id="21" name="dev4"/>
          <p:cNvSpPr/>
          <p:nvPr/>
        </p:nvSpPr>
        <p:spPr>
          <a:xfrm>
            <a:off x="5806440" y="2029968"/>
            <a:ext cx="2880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5943600" y="2212848"/>
            <a:ext cx="502920" cy="50292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472" y="233172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583680" y="202996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TV · webOS · Tizen</a:t>
            </a:r>
            <a:endParaRPr lang="en-US" sz="1400" dirty="0"/>
          </a:p>
        </p:txBody>
      </p:sp>
      <p:sp>
        <p:nvSpPr>
          <p:cNvPr id="25" name="dev5"/>
          <p:cNvSpPr/>
          <p:nvPr/>
        </p:nvSpPr>
        <p:spPr>
          <a:xfrm>
            <a:off x="5806440" y="3054096"/>
            <a:ext cx="2880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19"/>
          <p:cNvSpPr/>
          <p:nvPr/>
        </p:nvSpPr>
        <p:spPr>
          <a:xfrm>
            <a:off x="5943600" y="3236976"/>
            <a:ext cx="502920" cy="50292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472" y="3355848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583680" y="30540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 dispozitive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mașini · routere · console · embedded</a:t>
            </a:r>
            <a:endParaRPr lang="en-US" sz="1400" dirty="0"/>
          </a:p>
        </p:txBody>
      </p:sp>
      <p:sp>
        <p:nvSpPr>
          <p:cNvPr id="29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2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Sistemele de operare nu există doar pe calculatoare.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Primele laboratoare: Lab 1–4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Lucrăm împreună</a:t>
            </a:r>
            <a:endParaRPr lang="en-US" sz="1800" dirty="0"/>
          </a:p>
        </p:txBody>
      </p:sp>
      <p:sp>
        <p:nvSpPr>
          <p:cNvPr id="4" name="lab0"/>
          <p:cNvSpPr/>
          <p:nvPr/>
        </p:nvSpPr>
        <p:spPr>
          <a:xfrm>
            <a:off x="457200" y="150876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640080" cy="64008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88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Studio, primul proiect, Git și GitHub</a:t>
            </a:r>
            <a:endParaRPr lang="en-US" sz="1400" dirty="0"/>
          </a:p>
        </p:txBody>
      </p:sp>
      <p:sp>
        <p:nvSpPr>
          <p:cNvPr id="9" name="lab1"/>
          <p:cNvSpPr/>
          <p:nvPr/>
        </p:nvSpPr>
        <p:spPr>
          <a:xfrm>
            <a:off x="2560320" y="150876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697480" y="1645920"/>
            <a:ext cx="640080" cy="64008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26974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788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Interfață, XML, Activity și navigare</a:t>
            </a:r>
            <a:endParaRPr lang="en-US" sz="1400" dirty="0"/>
          </a:p>
        </p:txBody>
      </p:sp>
      <p:sp>
        <p:nvSpPr>
          <p:cNvPr id="14" name="lab2"/>
          <p:cNvSpPr/>
          <p:nvPr/>
        </p:nvSpPr>
        <p:spPr>
          <a:xfrm>
            <a:off x="4663440" y="150876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800600" y="1645920"/>
            <a:ext cx="640080" cy="64008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48006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788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jocului, View personalizat și desenare</a:t>
            </a:r>
            <a:endParaRPr lang="en-US" sz="1400" dirty="0"/>
          </a:p>
        </p:txBody>
      </p:sp>
      <p:sp>
        <p:nvSpPr>
          <p:cNvPr id="19" name="lab3"/>
          <p:cNvSpPr/>
          <p:nvPr/>
        </p:nvSpPr>
        <p:spPr>
          <a:xfrm>
            <a:off x="6766560" y="150876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903720" y="1645920"/>
            <a:ext cx="640080" cy="64008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69037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788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Mișcarea șarpelui și actualizarea jocului</a:t>
            </a:r>
            <a:endParaRPr lang="en-US" sz="1400" dirty="0"/>
          </a:p>
        </p:txBody>
      </p:sp>
      <p:sp>
        <p:nvSpPr>
          <p:cNvPr id="24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aceste laboratoare lucrăm pe același proiect demonstrativ: Snake.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faceți voi în Lab 1–4?</a:t>
            </a:r>
            <a:endParaRPr lang="en-US" sz="3400" dirty="0"/>
          </a:p>
        </p:txBody>
      </p:sp>
      <p:sp>
        <p:nvSpPr>
          <p:cNvPr id="3" name="step0"/>
          <p:cNvSpPr/>
          <p:nvPr/>
        </p:nvSpPr>
        <p:spPr>
          <a:xfrm>
            <a:off x="457200" y="109728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Explicăm conceptul</a:t>
            </a:r>
            <a:endParaRPr lang="en-US" sz="1500" dirty="0"/>
          </a:p>
        </p:txBody>
      </p:sp>
      <p:sp>
        <p:nvSpPr>
          <p:cNvPr id="7" name="step1"/>
          <p:cNvSpPr/>
          <p:nvPr/>
        </p:nvSpPr>
        <p:spPr>
          <a:xfrm>
            <a:off x="3246120" y="109728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429000" y="128016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34290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20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Implementez pe Snake, voi urmăriți</a:t>
            </a:r>
            <a:endParaRPr lang="en-US" sz="1500" dirty="0"/>
          </a:p>
        </p:txBody>
      </p:sp>
      <p:sp>
        <p:nvSpPr>
          <p:cNvPr id="11" name="step2"/>
          <p:cNvSpPr/>
          <p:nvPr/>
        </p:nvSpPr>
        <p:spPr>
          <a:xfrm>
            <a:off x="6035040" y="109728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62179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20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Primiți proiectul cu TODO</a:t>
            </a:r>
            <a:endParaRPr lang="en-US" sz="1500" dirty="0"/>
          </a:p>
        </p:txBody>
      </p:sp>
      <p:sp>
        <p:nvSpPr>
          <p:cNvPr id="15" name="step3"/>
          <p:cNvSpPr/>
          <p:nvPr/>
        </p:nvSpPr>
        <p:spPr>
          <a:xfrm>
            <a:off x="457200" y="260604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Acasă completați cerințele</a:t>
            </a:r>
            <a:endParaRPr lang="en-US" sz="1500" dirty="0"/>
          </a:p>
        </p:txBody>
      </p:sp>
      <p:sp>
        <p:nvSpPr>
          <p:cNvPr id="19" name="step4"/>
          <p:cNvSpPr/>
          <p:nvPr/>
        </p:nvSpPr>
        <p:spPr>
          <a:xfrm>
            <a:off x="3246120" y="260604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429000" y="278892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34290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Aveți și o cerință suplimentară individuală</a:t>
            </a:r>
            <a:endParaRPr lang="en-US" sz="1500" dirty="0"/>
          </a:p>
        </p:txBody>
      </p:sp>
      <p:sp>
        <p:nvSpPr>
          <p:cNvPr id="23" name="step5"/>
          <p:cNvSpPr/>
          <p:nvPr/>
        </p:nvSpPr>
        <p:spPr>
          <a:xfrm>
            <a:off x="6035040" y="260604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217920" y="278892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62179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429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Încărcați proiectul pentru predare</a:t>
            </a:r>
            <a:endParaRPr lang="en-US" sz="1500" dirty="0"/>
          </a:p>
        </p:txBody>
      </p:sp>
      <p:sp>
        <p:nvSpPr>
          <p:cNvPr id="27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Până la Lab 4, toată grupa lucrează pe aceeași bază.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se schimbă de la Lab 5?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Laboratorul 5 începe proiectul vostru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primiți lista de proiecte;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student își alege / primește propriul proiect;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acel moment lucrați pe proiectul vostru;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conceptele continuă să fie explicate folosind Snake;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 aplicați aceleași concepte în proiectul propriu.</a:t>
            </a:r>
            <a:endParaRPr lang="en-US" sz="1500" dirty="0"/>
          </a:p>
        </p:txBody>
      </p:sp>
      <p:sp>
        <p:nvSpPr>
          <p:cNvPr id="5" name="snake"/>
          <p:cNvSpPr/>
          <p:nvPr/>
        </p:nvSpPr>
        <p:spPr>
          <a:xfrm>
            <a:off x="4937760" y="1508760"/>
            <a:ext cx="3749040" cy="1143000"/>
          </a:xfrm>
          <a:prstGeom prst="roundRect">
            <a:avLst>
              <a:gd name="adj" fmla="val 96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166360" y="150876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</a:t>
            </a:r>
            <a:endParaRPr lang="en-US" sz="24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exemplul de referință</a:t>
            </a:r>
            <a:endParaRPr lang="en-US" sz="2400" dirty="0"/>
          </a:p>
        </p:txBody>
      </p:sp>
      <p:sp>
        <p:nvSpPr>
          <p:cNvPr id="7" name="yours"/>
          <p:cNvSpPr/>
          <p:nvPr/>
        </p:nvSpPr>
        <p:spPr>
          <a:xfrm>
            <a:off x="4937760" y="2834640"/>
            <a:ext cx="3749040" cy="1143000"/>
          </a:xfrm>
          <a:prstGeom prst="roundRect">
            <a:avLst>
              <a:gd name="adj" fmla="val 9600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5166360" y="28346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Proiectul vostru</a:t>
            </a:r>
            <a:endParaRPr lang="en-US" sz="24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aplicația pe care o dezvoltați</a:t>
            </a:r>
            <a:endParaRPr lang="en-US" sz="2400" dirty="0"/>
          </a:p>
        </p:txBody>
      </p:sp>
      <p:sp>
        <p:nvSpPr>
          <p:cNvPr id="9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rămâne ghidul; proiectul vostru este ce predați.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 lucrăm de la Lab 5?</a:t>
            </a:r>
            <a:endParaRPr lang="en-US" sz="3400" dirty="0"/>
          </a:p>
        </p:txBody>
      </p:sp>
      <p:sp>
        <p:nvSpPr>
          <p:cNvPr id="3" name="flow0"/>
          <p:cNvSpPr/>
          <p:nvPr/>
        </p:nvSpPr>
        <p:spPr>
          <a:xfrm>
            <a:off x="457200" y="1188720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Explicație la laborator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0" y="1554480"/>
            <a:ext cx="274320" cy="274320"/>
          </a:xfrm>
          <a:prstGeom prst="right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flow1"/>
          <p:cNvSpPr/>
          <p:nvPr/>
        </p:nvSpPr>
        <p:spPr>
          <a:xfrm>
            <a:off x="3337560" y="1188720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3474720" y="11887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 pe Snake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06440" y="1554480"/>
            <a:ext cx="274320" cy="274320"/>
          </a:xfrm>
          <a:prstGeom prst="right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flow2"/>
          <p:cNvSpPr/>
          <p:nvPr/>
        </p:nvSpPr>
        <p:spPr>
          <a:xfrm>
            <a:off x="6217920" y="1188720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355080" y="11887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Proiectul Snake este încărcat</a:t>
            </a:r>
            <a:endParaRPr lang="en-US" sz="1200" dirty="0"/>
          </a:p>
        </p:txBody>
      </p:sp>
      <p:sp>
        <p:nvSpPr>
          <p:cNvPr id="11" name="flow3"/>
          <p:cNvSpPr/>
          <p:nvPr/>
        </p:nvSpPr>
        <p:spPr>
          <a:xfrm>
            <a:off x="457200" y="2560320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594360" y="2560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Studiați exemplul și explicațiile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2926080"/>
            <a:ext cx="274320" cy="274320"/>
          </a:xfrm>
          <a:prstGeom prst="right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flow4"/>
          <p:cNvSpPr/>
          <p:nvPr/>
        </p:nvSpPr>
        <p:spPr>
          <a:xfrm>
            <a:off x="3337560" y="2560320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3474720" y="2560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 conceptul în proiectul vostru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06440" y="2926080"/>
            <a:ext cx="274320" cy="274320"/>
          </a:xfrm>
          <a:prstGeom prst="right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flow5"/>
          <p:cNvSpPr/>
          <p:nvPr/>
        </p:nvSpPr>
        <p:spPr>
          <a:xfrm>
            <a:off x="6217920" y="2560320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1BA862"/>
          </a:solidFill>
          <a:ln w="9525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6355080" y="2560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+ predare</a:t>
            </a:r>
            <a:endParaRPr lang="en-US" sz="1200" dirty="0"/>
          </a:p>
        </p:txBody>
      </p:sp>
      <p:sp>
        <p:nvSpPr>
          <p:cNvPr id="19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copiați mecanic Snake: înțelegeți mecanismul și îl adaptați proiectului vostru.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Desfășurarea unui laborator</a:t>
            </a:r>
            <a:endParaRPr lang="en-US" sz="3400" dirty="0"/>
          </a:p>
        </p:txBody>
      </p:sp>
      <p:sp>
        <p:nvSpPr>
          <p:cNvPr id="3" name="grpLab"/>
          <p:cNvSpPr/>
          <p:nvPr/>
        </p:nvSpPr>
        <p:spPr>
          <a:xfrm>
            <a:off x="457200" y="105156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laborator</a:t>
            </a:r>
            <a:endParaRPr lang="en-US" sz="1500" dirty="0"/>
          </a:p>
        </p:txBody>
      </p:sp>
      <p:sp>
        <p:nvSpPr>
          <p:cNvPr id="5" name="grpHome"/>
          <p:cNvSpPr/>
          <p:nvPr/>
        </p:nvSpPr>
        <p:spPr>
          <a:xfrm>
            <a:off x="3474720" y="1051560"/>
            <a:ext cx="5212080" cy="411480"/>
          </a:xfrm>
          <a:prstGeom prst="roundRect">
            <a:avLst>
              <a:gd name="adj" fmla="val 22222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3474720" y="10515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Acasă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2011680"/>
            <a:ext cx="7223760" cy="0"/>
          </a:xfrm>
          <a:prstGeom prst="line">
            <a:avLst/>
          </a:prstGeom>
          <a:noFill/>
          <a:ln w="25400">
            <a:solidFill>
              <a:srgbClr val="B5C3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548640" cy="548640"/>
          </a:xfrm>
          <a:prstGeom prst="ellipse">
            <a:avLst/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6858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Explicație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30552" y="1737360"/>
            <a:ext cx="548640" cy="548640"/>
          </a:xfrm>
          <a:prstGeom prst="ellipse">
            <a:avLst/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2130552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19072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Demonstrație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75304" y="173736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3575304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163824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0056" y="173736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5020056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608576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64808" y="173736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6464808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053328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09560" y="173736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79095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Predare</a:t>
            </a:r>
            <a:endParaRPr lang="en-US" sz="1400" dirty="0"/>
          </a:p>
        </p:txBody>
      </p:sp>
      <p:sp>
        <p:nvSpPr>
          <p:cNvPr id="26" name="q1"/>
          <p:cNvSpPr/>
          <p:nvPr/>
        </p:nvSpPr>
        <p:spPr>
          <a:xfrm>
            <a:off x="457200" y="301752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85800" y="30175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laborator mă urmăriți: explic și demonstrez. Implementați voi acasă.</a:t>
            </a:r>
            <a:endParaRPr lang="en-US" sz="1500" dirty="0"/>
          </a:p>
        </p:txBody>
      </p:sp>
      <p:sp>
        <p:nvSpPr>
          <p:cNvPr id="28" name="q2"/>
          <p:cNvSpPr/>
          <p:nvPr/>
        </p:nvSpPr>
        <p:spPr>
          <a:xfrm>
            <a:off x="4663440" y="301752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892040" y="30175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Întrebările sunt încurajate. Dacă ceva nu funcționează, înțelegeți mai întâi eroarea, nu înlocuiți codul la întâmplare.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Notarea laboratorului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urmăresc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99616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463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funcționalitatea cerută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18836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integrarea corectă în proiect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0864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8680" y="23042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commit-urile și tag-ul laboratorului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61488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68680" y="2724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/ verificările cerute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82112"/>
            <a:ext cx="274320" cy="27432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68680" y="31455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respectarea cerințelor</a:t>
            </a:r>
            <a:endParaRPr lang="en-US" sz="15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02736"/>
            <a:ext cx="274320" cy="27432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68680" y="35661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capacitatea de a explica ce ați implementat</a:t>
            </a:r>
            <a:endParaRPr lang="en-US" sz="1500" dirty="0"/>
          </a:p>
        </p:txBody>
      </p:sp>
      <p:sp>
        <p:nvSpPr>
          <p:cNvPr id="16" name="callout"/>
          <p:cNvSpPr/>
          <p:nvPr/>
        </p:nvSpPr>
        <p:spPr>
          <a:xfrm>
            <a:off x="5394960" y="1097280"/>
            <a:ext cx="3291840" cy="2880360"/>
          </a:xfrm>
          <a:prstGeom prst="roundRect">
            <a:avLst>
              <a:gd name="adj" fmla="val 4762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9"/>
          <p:cNvSpPr/>
          <p:nvPr/>
        </p:nvSpPr>
        <p:spPr>
          <a:xfrm>
            <a:off x="5669280" y="1325880"/>
            <a:ext cx="640080" cy="64008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1481328"/>
            <a:ext cx="329184" cy="32918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5669280" y="21031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Faptul că aplicația funcționează nu este suficient dacă nu puteți explica ce face codul vostru.</a:t>
            </a:r>
            <a:endParaRPr lang="en-US" sz="1800" dirty="0"/>
          </a:p>
        </p:txBody>
      </p:sp>
      <p:sp>
        <p:nvSpPr>
          <p:cNvPr id="20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2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= 0.4 × (Lab2 + Lab3 + Lab4) + 0.6 × Proiect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Predarea se face prin GitHub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funcție de laborator</a:t>
            </a:r>
            <a:endParaRPr lang="en-US" sz="1800" dirty="0"/>
          </a:p>
        </p:txBody>
      </p:sp>
      <p:sp>
        <p:nvSpPr>
          <p:cNvPr id="4" name="pr0"/>
          <p:cNvSpPr/>
          <p:nvPr/>
        </p:nvSpPr>
        <p:spPr>
          <a:xfrm>
            <a:off x="457200" y="155448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Codul sursă</a:t>
            </a:r>
            <a:endParaRPr lang="en-US" sz="1500" dirty="0"/>
          </a:p>
        </p:txBody>
      </p:sp>
      <p:sp>
        <p:nvSpPr>
          <p:cNvPr id="8" name="pr1"/>
          <p:cNvSpPr/>
          <p:nvPr/>
        </p:nvSpPr>
        <p:spPr>
          <a:xfrm>
            <a:off x="2103120" y="155448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2514600" y="1783080"/>
            <a:ext cx="685800" cy="685800"/>
          </a:xfrm>
          <a:prstGeom prst="ellipse">
            <a:avLst/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9202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9456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Commit-uri relevante</a:t>
            </a:r>
            <a:endParaRPr lang="en-US" sz="1500" dirty="0"/>
          </a:p>
        </p:txBody>
      </p:sp>
      <p:sp>
        <p:nvSpPr>
          <p:cNvPr id="12" name="pr2"/>
          <p:cNvSpPr/>
          <p:nvPr/>
        </p:nvSpPr>
        <p:spPr>
          <a:xfrm>
            <a:off x="3749040" y="155448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4160520" y="1783080"/>
            <a:ext cx="685800" cy="685800"/>
          </a:xfrm>
          <a:prstGeom prst="ellipse">
            <a:avLst/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9202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4048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Tag-ul laboratorului</a:t>
            </a:r>
            <a:endParaRPr lang="en-US" sz="1500" dirty="0"/>
          </a:p>
        </p:txBody>
      </p:sp>
      <p:sp>
        <p:nvSpPr>
          <p:cNvPr id="16" name="pr3"/>
          <p:cNvSpPr/>
          <p:nvPr/>
        </p:nvSpPr>
        <p:spPr>
          <a:xfrm>
            <a:off x="5394960" y="155448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5806440" y="1783080"/>
            <a:ext cx="685800" cy="685800"/>
          </a:xfrm>
          <a:prstGeom prst="ellipse">
            <a:avLst/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19202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8640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scurt</a:t>
            </a:r>
            <a:endParaRPr lang="en-US" sz="1500" dirty="0"/>
          </a:p>
        </p:txBody>
      </p:sp>
      <p:sp>
        <p:nvSpPr>
          <p:cNvPr id="20" name="pr4"/>
          <p:cNvSpPr/>
          <p:nvPr/>
        </p:nvSpPr>
        <p:spPr>
          <a:xfrm>
            <a:off x="7040880" y="155448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7452360" y="1783080"/>
            <a:ext cx="685800" cy="68580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192024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3232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Verificările cerute</a:t>
            </a:r>
            <a:endParaRPr lang="en-US" sz="1500" dirty="0"/>
          </a:p>
        </p:txBody>
      </p:sp>
      <p:sp>
        <p:nvSpPr>
          <p:cNvPr id="24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18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Verificați repository-ul înainte de termenul-limită.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Termene importante</a:t>
            </a:r>
            <a:endParaRPr lang="en-US" sz="3400" dirty="0"/>
          </a:p>
        </p:txBody>
      </p:sp>
      <p:sp>
        <p:nvSpPr>
          <p:cNvPr id="3" name="dl1"/>
          <p:cNvSpPr/>
          <p:nvPr/>
        </p:nvSpPr>
        <p:spPr>
          <a:xfrm>
            <a:off x="457200" y="1188720"/>
            <a:ext cx="4023360" cy="2651760"/>
          </a:xfrm>
          <a:prstGeom prst="roundRect">
            <a:avLst>
              <a:gd name="adj" fmla="val 5172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6642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77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7BE0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Săptămâna 14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Prezentarea proiectelor</a:t>
            </a:r>
            <a:endParaRPr lang="en-US" sz="2000" dirty="0"/>
          </a:p>
        </p:txBody>
      </p:sp>
      <p:sp>
        <p:nvSpPr>
          <p:cNvPr id="8" name="dl2"/>
          <p:cNvSpPr/>
          <p:nvPr/>
        </p:nvSpPr>
        <p:spPr>
          <a:xfrm>
            <a:off x="4663440" y="1188720"/>
            <a:ext cx="4023360" cy="2651760"/>
          </a:xfrm>
          <a:prstGeom prst="roundRect">
            <a:avLst>
              <a:gd name="adj" fmla="val 5172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937760" y="1463040"/>
            <a:ext cx="731520" cy="731520"/>
          </a:xfrm>
          <a:prstGeom prst="ellipse">
            <a:avLst/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16642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37760" y="2377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2–4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Predare până la laboratorul următor. Întârziere acceptată: maxim 2 săptămâni</a:t>
            </a:r>
            <a:endParaRPr lang="en-US" sz="1700" dirty="0"/>
          </a:p>
        </p:txBody>
      </p:sp>
      <p:sp>
        <p:nvSpPr>
          <p:cNvPr id="13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Planificați-vă lucrul din timp, nu lăsați totul pentru final.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Resurse utile</a:t>
            </a:r>
            <a:endParaRPr lang="en-US" sz="3400" dirty="0"/>
          </a:p>
        </p:txBody>
      </p:sp>
      <p:sp>
        <p:nvSpPr>
          <p:cNvPr id="3" name="res0"/>
          <p:cNvSpPr/>
          <p:nvPr/>
        </p:nvSpPr>
        <p:spPr>
          <a:xfrm>
            <a:off x="457200" y="109728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502920" cy="50292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389888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0972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tooltip="https://developer.android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 Developers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Documentația oficială Android</a:t>
            </a:r>
            <a:endParaRPr lang="en-US" sz="1500" dirty="0"/>
          </a:p>
        </p:txBody>
      </p:sp>
      <p:sp>
        <p:nvSpPr>
          <p:cNvPr id="7" name="res1"/>
          <p:cNvSpPr/>
          <p:nvPr/>
        </p:nvSpPr>
        <p:spPr>
          <a:xfrm>
            <a:off x="4663440" y="109728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4800600" y="1261872"/>
            <a:ext cx="502920" cy="50292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1389888"/>
            <a:ext cx="246888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40680" y="10972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tooltip="https://developer.android.com/studi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Android Studio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Instalare, emulator și instrumente</a:t>
            </a:r>
            <a:endParaRPr lang="en-US" sz="1500" dirty="0"/>
          </a:p>
        </p:txBody>
      </p:sp>
      <p:sp>
        <p:nvSpPr>
          <p:cNvPr id="11" name="res2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594360" y="2221992"/>
            <a:ext cx="502920" cy="50292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350008"/>
            <a:ext cx="246888" cy="24688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20574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tooltip="https://docs.oracle.com/en/java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 Documentation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Documentația limbajului Java</a:t>
            </a:r>
            <a:endParaRPr lang="en-US" sz="1500" dirty="0"/>
          </a:p>
        </p:txBody>
      </p:sp>
      <p:sp>
        <p:nvSpPr>
          <p:cNvPr id="15" name="res3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4800600" y="2221992"/>
            <a:ext cx="502920" cy="50292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350008"/>
            <a:ext cx="246888" cy="2468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40680" y="20574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tooltip="https://git-scm.com/do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Documentation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Comenzi și concepte Git</a:t>
            </a:r>
            <a:endParaRPr lang="en-US" sz="1500" dirty="0"/>
          </a:p>
        </p:txBody>
      </p:sp>
      <p:sp>
        <p:nvSpPr>
          <p:cNvPr id="19" name="res4"/>
          <p:cNvSpPr/>
          <p:nvPr/>
        </p:nvSpPr>
        <p:spPr>
          <a:xfrm>
            <a:off x="457200" y="301752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4"/>
          <p:cNvSpPr/>
          <p:nvPr/>
        </p:nvSpPr>
        <p:spPr>
          <a:xfrm>
            <a:off x="594360" y="3182112"/>
            <a:ext cx="502920" cy="50292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310128"/>
            <a:ext cx="246888" cy="24688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3017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tooltip="https://docs.github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Docs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Repository-uri, autentificare și colaborare</a:t>
            </a:r>
            <a:endParaRPr lang="en-US" sz="1500" dirty="0"/>
          </a:p>
        </p:txBody>
      </p:sp>
      <p:sp>
        <p:nvSpPr>
          <p:cNvPr id="23" name="res5"/>
          <p:cNvSpPr/>
          <p:nvPr/>
        </p:nvSpPr>
        <p:spPr>
          <a:xfrm>
            <a:off x="4663440" y="301752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7"/>
          <p:cNvSpPr/>
          <p:nvPr/>
        </p:nvSpPr>
        <p:spPr>
          <a:xfrm>
            <a:off x="4800600" y="3182112"/>
            <a:ext cx="502920" cy="502920"/>
          </a:xfrm>
          <a:prstGeom prst="ellipse">
            <a:avLst/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8616" y="3310128"/>
            <a:ext cx="246888" cy="24688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40680" y="3017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Materialele laboratorului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· cerință · starter · proiect Snake completat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Materialele laboratorului: adăugați aici linkul paginii centrale (Moodle / Drive / GitHub), eventual și un cod QR.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Dacă aveți o problemă</a:t>
            </a:r>
            <a:endParaRPr lang="en-US" sz="3400" dirty="0"/>
          </a:p>
        </p:txBody>
      </p:sp>
      <p:sp>
        <p:nvSpPr>
          <p:cNvPr id="3" name="before"/>
          <p:cNvSpPr/>
          <p:nvPr/>
        </p:nvSpPr>
        <p:spPr>
          <a:xfrm>
            <a:off x="457200" y="109728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Înainte să cereți ajutor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citiți mesajul complet al erorii;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verificați Logcat / Build;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verificați ce linie din cod produce problema;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explicați ce ați făcut înainte să apară eroarea.</a:t>
            </a:r>
            <a:endParaRPr lang="en-US" sz="1400" dirty="0"/>
          </a:p>
        </p:txBody>
      </p:sp>
      <p:sp>
        <p:nvSpPr>
          <p:cNvPr id="8" name="send"/>
          <p:cNvSpPr/>
          <p:nvPr/>
        </p:nvSpPr>
        <p:spPr>
          <a:xfrm>
            <a:off x="4663440" y="109728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0E2A3A"/>
          </a:solidFill>
          <a:ln w="9525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892040" y="128016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17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280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Când trimiteți întrebarea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0116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Trimiteți: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mesajul complet al erorii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ce ați încercat deja</a:t>
            </a:r>
            <a:endParaRPr lang="en-US" sz="1600" dirty="0"/>
          </a:p>
        </p:txBody>
      </p:sp>
      <p:sp>
        <p:nvSpPr>
          <p:cNvPr id="13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înlocuiți codul la întâmplare: înțelegeți eroarea.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Aveți întrebări?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929384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783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alexandra.luca2901@gmail.com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Pentru: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nelămuriri despre cerințe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tehnice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predare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proiectul individual</a:t>
            </a:r>
            <a:endParaRPr lang="en-US" sz="1500" dirty="0"/>
          </a:p>
        </p:txBody>
      </p:sp>
      <p:sp>
        <p:nvSpPr>
          <p:cNvPr id="8" name="closing"/>
          <p:cNvSpPr/>
          <p:nvPr/>
        </p:nvSpPr>
        <p:spPr>
          <a:xfrm>
            <a:off x="4754880" y="2651760"/>
            <a:ext cx="3840480" cy="1737360"/>
          </a:xfrm>
          <a:prstGeom prst="roundRect">
            <a:avLst>
              <a:gd name="adj" fmla="val 7895"/>
            </a:avLst>
          </a:prstGeom>
          <a:solidFill>
            <a:srgbClr val="123A4F"/>
          </a:solidFill>
          <a:ln w="12700">
            <a:solidFill>
              <a:srgbClr val="1F52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4983480" y="26517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Întrebați când ceva nu este </a:t>
            </a:r>
            <a:r>
              <a:rPr lang="en-US" sz="17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</a:t>
            </a: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scopul laboratorului este să înțelegeți ce construiți.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 Android">
  <a:themeElements>
    <a:clrScheme name="SO Android">
      <a:dk1>
        <a:srgbClr val="12202B"/>
      </a:dk1>
      <a:lt1>
        <a:srgbClr val="FFFFFF"/>
      </a:lt1>
      <a:dk2>
        <a:srgbClr val="0E2A3A"/>
      </a:dk2>
      <a:lt2>
        <a:srgbClr val="F2F6F8"/>
      </a:lt2>
      <a:accent1>
        <a:srgbClr val="1BA862"/>
      </a:accent1>
      <a:accent2>
        <a:srgbClr val="0E2A3A"/>
      </a:accent2>
      <a:accent3>
        <a:srgbClr val="3D7EA6"/>
      </a:accent3>
      <a:accent4>
        <a:srgbClr val="F2A93B"/>
      </a:accent4>
      <a:accent5>
        <a:srgbClr val="7A8B97"/>
      </a:accent5>
      <a:accent6>
        <a:srgbClr val="D9534F"/>
      </a:accent6>
      <a:hlink>
        <a:srgbClr val="1F6FB2"/>
      </a:hlink>
      <a:folHlink>
        <a:srgbClr val="7A5C99"/>
      </a:folHlink>
    </a:clrScheme>
    <a:fontScheme name="SO Androi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799</Words>
  <Application>Microsoft Office PowerPoint</Application>
  <PresentationFormat>On-screen Show (16:9)</PresentationFormat>
  <Paragraphs>192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SO Android</vt:lpstr>
      <vt:lpstr>PowerPoint Presentation</vt:lpstr>
      <vt:lpstr>PowerPoint Presentation</vt:lpstr>
      <vt:lpstr>Ce este un sistem de operare?</vt:lpstr>
      <vt:lpstr>Unde avem sisteme de operare?</vt:lpstr>
      <vt:lpstr>Primele laboratoare: Lab 1–4</vt:lpstr>
      <vt:lpstr>Ce faceți voi în Lab 1–4?</vt:lpstr>
      <vt:lpstr>Ce se schimbă de la Lab 5?</vt:lpstr>
      <vt:lpstr>Cum lucrăm de la Lab 5?</vt:lpstr>
      <vt:lpstr>Desfășurarea unui laborator</vt:lpstr>
      <vt:lpstr>Notarea laboratorului</vt:lpstr>
      <vt:lpstr>Predarea se face prin GitHub</vt:lpstr>
      <vt:lpstr>Termene importante</vt:lpstr>
      <vt:lpstr>Resurse utile</vt:lpstr>
      <vt:lpstr>Dacă aveți o problemă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Laboratoare Sisteme de Operare — Introducere</dc:title>
  <dc:subject/>
  <dc:creator/>
  <cp:lastModifiedBy/>
  <cp:revision>3</cp:revision>
  <dcterms:created xsi:type="dcterms:W3CDTF">2026-10-08T09:22:16Z</dcterms:created>
  <dcterms:modified xsi:type="dcterms:W3CDTF">2026-10-08T11:22:44Z</dcterms:modified>
  <dc:description/>
  <cp:keywords/>
  <cp:category/>
</cp:coreProperties>
</file>