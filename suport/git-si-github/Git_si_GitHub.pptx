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2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914400"/>
            <a:ext cx="2560320" cy="2560320"/>
          </a:xfrm>
          <a:prstGeom prst="ellipse">
            <a:avLst/>
          </a:prstGeom>
          <a:solidFill>
            <a:srgbClr val="123A4F"/>
          </a:solidFill>
          <a:ln w="12700">
            <a:solidFill>
              <a:srgbClr val="123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12280" y="1325880"/>
            <a:ext cx="1737360" cy="173736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17373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28016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și GitHub,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explicate de la zero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926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al versiunilor · repository · commit · branch · pull request</a:t>
            </a:r>
            <a:endParaRPr lang="en-US" sz="1800" dirty="0"/>
          </a:p>
        </p:txBody>
      </p:sp>
      <p:sp>
        <p:nvSpPr>
          <p:cNvPr id="7" name="note1"/>
          <p:cNvSpPr/>
          <p:nvPr/>
        </p:nvSpPr>
        <p:spPr>
          <a:xfrm>
            <a:off x="548640" y="3840480"/>
            <a:ext cx="8046720" cy="822960"/>
          </a:xfrm>
          <a:prstGeom prst="roundRect">
            <a:avLst>
              <a:gd name="adj" fmla="val 13333"/>
            </a:avLst>
          </a:prstGeom>
          <a:solidFill>
            <a:srgbClr val="123A4F"/>
          </a:solidFill>
          <a:ln w="12700">
            <a:solidFill>
              <a:srgbClr val="123A4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84048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prezentare folosim Snake pentru a înțelege conceptele Git. </a:t>
            </a:r>
            <a:pPr indent="0" marL="0">
              <a:buNone/>
            </a:pPr>
            <a:r>
              <a:rPr lang="en-US" sz="14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Laboratorul 1, aplicația pe care o creați și o publicați pe GitHub se numește Lab01HelloAndroid.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ce avem nevoie de Git?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Dezvoltăm aplicația Android Snake. În fiecare zi adăugăm funcționalități noi, dar uneori apar erori.</a:t>
            </a:r>
            <a:endParaRPr lang="en-US" sz="1600" dirty="0"/>
          </a:p>
        </p:txBody>
      </p:sp>
      <p:sp>
        <p:nvSpPr>
          <p:cNvPr id="4" name="day0"/>
          <p:cNvSpPr/>
          <p:nvPr/>
        </p:nvSpPr>
        <p:spPr>
          <a:xfrm>
            <a:off x="457200" y="169164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Ziua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Jocul pornește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2880360" y="2331720"/>
            <a:ext cx="32004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0" name="day1"/>
          <p:cNvSpPr/>
          <p:nvPr/>
        </p:nvSpPr>
        <p:spPr>
          <a:xfrm>
            <a:off x="3383280" y="169164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66160" y="1874520"/>
            <a:ext cx="548640" cy="54864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0116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9768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Ziua 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Adăugăm meniul</a:t>
            </a:r>
            <a:endParaRPr lang="en-US" sz="1900" dirty="0"/>
          </a:p>
        </p:txBody>
      </p:sp>
      <p:sp>
        <p:nvSpPr>
          <p:cNvPr id="15" name="Shape 11"/>
          <p:cNvSpPr/>
          <p:nvPr/>
        </p:nvSpPr>
        <p:spPr>
          <a:xfrm>
            <a:off x="5806440" y="2331720"/>
            <a:ext cx="32004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6" name="day2"/>
          <p:cNvSpPr/>
          <p:nvPr/>
        </p:nvSpPr>
        <p:spPr>
          <a:xfrm>
            <a:off x="6309360" y="1691640"/>
            <a:ext cx="23774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92240" y="1874520"/>
            <a:ext cx="548640" cy="54864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0116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23760" y="18745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Ziua 3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26060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D953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Apare o eroare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 păstrăm istoricul proiectului și revenim la o versiune funcțională?</a:t>
            </a:r>
            <a:endParaRPr lang="en-US" sz="1700" dirty="0"/>
          </a:p>
        </p:txBody>
      </p:sp>
      <p:sp>
        <p:nvSpPr>
          <p:cNvPr id="22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Răspuns: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folosind Git.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este Git?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este un sistem de control al versiunilor.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ajută să: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47672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192024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urmărim modificările făcute în proiect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1720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23042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păstrăm istoricul dezvoltării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15768"/>
            <a:ext cx="256032" cy="25603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68680" y="2688336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salvăm etape importante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99816"/>
            <a:ext cx="256032" cy="256032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68680" y="30723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revenim la versiuni anterioare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83864"/>
            <a:ext cx="256032" cy="256032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68680" y="3456432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colaborăm cu alți programatori</a:t>
            </a:r>
            <a:endParaRPr lang="en-US" sz="1500" dirty="0"/>
          </a:p>
        </p:txBody>
      </p:sp>
      <p:sp>
        <p:nvSpPr>
          <p:cNvPr id="15" name="ex"/>
          <p:cNvSpPr/>
          <p:nvPr/>
        </p:nvSpPr>
        <p:spPr>
          <a:xfrm>
            <a:off x="5029200" y="1508760"/>
            <a:ext cx="365760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9"/>
          <p:cNvSpPr txBox="1"/>
          <p:nvPr/>
        </p:nvSpPr>
        <p:spPr>
          <a:xfrm>
            <a:off x="52578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</a:t>
            </a:r>
            <a:endParaRPr lang="en-US" sz="1400" dirty="0"/>
          </a:p>
        </p:txBody>
      </p:sp>
      <p:sp>
        <p:nvSpPr>
          <p:cNvPr id="17" name="Text 10"/>
          <p:cNvSpPr txBox="1"/>
          <p:nvPr/>
        </p:nvSpPr>
        <p:spPr>
          <a:xfrm>
            <a:off x="5257800" y="201168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Când adăugăm meniul jocului Snake, putem înregistra această etapă folosind Git.</a:t>
            </a:r>
            <a:endParaRPr lang="en-US" sz="1500" dirty="0"/>
          </a:p>
        </p:txBody>
      </p:sp>
      <p:sp>
        <p:nvSpPr>
          <p:cNvPr id="18" name="offline"/>
          <p:cNvSpPr/>
          <p:nvPr/>
        </p:nvSpPr>
        <p:spPr>
          <a:xfrm>
            <a:off x="5257800" y="3063240"/>
            <a:ext cx="3200400" cy="685800"/>
          </a:xfrm>
          <a:prstGeom prst="roundRect">
            <a:avLst>
              <a:gd name="adj" fmla="val 16000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5394960" y="30632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funcționează local, chiar și fără internet.</a:t>
            </a:r>
            <a:endParaRPr lang="en-US" sz="1400" dirty="0"/>
          </a:p>
        </p:txBody>
      </p:sp>
      <p:sp>
        <p:nvSpPr>
          <p:cNvPr id="20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păstrează istoricul etapelor proiectului înregistrate prin commit-uri.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 este diferența dintre Git și GitHub?</a:t>
            </a:r>
            <a:endParaRPr lang="en-US" sz="3000" dirty="0"/>
          </a:p>
        </p:txBody>
      </p:sp>
      <p:sp>
        <p:nvSpPr>
          <p:cNvPr id="3" name="hdr0"/>
          <p:cNvSpPr/>
          <p:nvPr/>
        </p:nvSpPr>
        <p:spPr>
          <a:xfrm>
            <a:off x="457200" y="1051560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6128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</a:t>
            </a:r>
            <a:endParaRPr lang="en-US" sz="2000" dirty="0"/>
          </a:p>
        </p:txBody>
      </p:sp>
      <p:sp>
        <p:nvSpPr>
          <p:cNvPr id="6" name="row"/>
          <p:cNvSpPr/>
          <p:nvPr/>
        </p:nvSpPr>
        <p:spPr>
          <a:xfrm>
            <a:off x="457200" y="169164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4008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de control al versiunilor</a:t>
            </a:r>
            <a:endParaRPr lang="en-US" sz="1400" dirty="0"/>
          </a:p>
        </p:txBody>
      </p:sp>
      <p:sp>
        <p:nvSpPr>
          <p:cNvPr id="8" name="row"/>
          <p:cNvSpPr/>
          <p:nvPr/>
        </p:nvSpPr>
        <p:spPr>
          <a:xfrm>
            <a:off x="457200" y="214884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40080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Instalat pe calculator</a:t>
            </a:r>
            <a:endParaRPr lang="en-US" sz="1400" dirty="0"/>
          </a:p>
        </p:txBody>
      </p:sp>
      <p:sp>
        <p:nvSpPr>
          <p:cNvPr id="10" name="row"/>
          <p:cNvSpPr/>
          <p:nvPr/>
        </p:nvSpPr>
        <p:spPr>
          <a:xfrm>
            <a:off x="457200" y="260604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40080" y="2606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Creează commit-uri locale</a:t>
            </a:r>
            <a:endParaRPr lang="en-US" sz="1400" dirty="0"/>
          </a:p>
        </p:txBody>
      </p:sp>
      <p:sp>
        <p:nvSpPr>
          <p:cNvPr id="12" name="row"/>
          <p:cNvSpPr/>
          <p:nvPr/>
        </p:nvSpPr>
        <p:spPr>
          <a:xfrm>
            <a:off x="457200" y="306324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40080" y="3063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Urmărește modificările</a:t>
            </a:r>
            <a:endParaRPr lang="en-US" sz="1400" dirty="0"/>
          </a:p>
        </p:txBody>
      </p:sp>
      <p:sp>
        <p:nvSpPr>
          <p:cNvPr id="14" name="hdr1"/>
          <p:cNvSpPr/>
          <p:nvPr/>
        </p:nvSpPr>
        <p:spPr>
          <a:xfrm>
            <a:off x="4663440" y="1051560"/>
            <a:ext cx="4023360" cy="548640"/>
          </a:xfrm>
          <a:prstGeom prst="roundRect">
            <a:avLst>
              <a:gd name="adj" fmla="val 20000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61288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03520" y="10515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2000" dirty="0"/>
          </a:p>
        </p:txBody>
      </p:sp>
      <p:sp>
        <p:nvSpPr>
          <p:cNvPr id="17" name="row"/>
          <p:cNvSpPr/>
          <p:nvPr/>
        </p:nvSpPr>
        <p:spPr>
          <a:xfrm>
            <a:off x="4663440" y="169164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846320" y="16916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Platformă online</a:t>
            </a:r>
            <a:endParaRPr lang="en-US" sz="1400" dirty="0"/>
          </a:p>
        </p:txBody>
      </p:sp>
      <p:sp>
        <p:nvSpPr>
          <p:cNvPr id="19" name="row"/>
          <p:cNvSpPr/>
          <p:nvPr/>
        </p:nvSpPr>
        <p:spPr>
          <a:xfrm>
            <a:off x="4663440" y="214884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 txBox="1"/>
          <p:nvPr/>
        </p:nvSpPr>
        <p:spPr>
          <a:xfrm>
            <a:off x="4846320" y="21488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 prin internet</a:t>
            </a:r>
            <a:endParaRPr lang="en-US" sz="1400" dirty="0"/>
          </a:p>
        </p:txBody>
      </p:sp>
      <p:sp>
        <p:nvSpPr>
          <p:cNvPr id="21" name="row"/>
          <p:cNvSpPr/>
          <p:nvPr/>
        </p:nvSpPr>
        <p:spPr>
          <a:xfrm>
            <a:off x="4663440" y="260604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4846320" y="2606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Găzduiește repository-uri</a:t>
            </a:r>
            <a:endParaRPr lang="en-US" sz="1400" dirty="0"/>
          </a:p>
        </p:txBody>
      </p:sp>
      <p:sp>
        <p:nvSpPr>
          <p:cNvPr id="23" name="row"/>
          <p:cNvSpPr/>
          <p:nvPr/>
        </p:nvSpPr>
        <p:spPr>
          <a:xfrm>
            <a:off x="4663440" y="3063240"/>
            <a:ext cx="4023360" cy="384048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4846320" y="30632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partajarea și colaborarea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45720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Exemplu: </a:t>
            </a:r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înregistrează modificările jocului Snake, iar GitHub găzduiește repository-ul online.</a:t>
            </a:r>
            <a:endParaRPr lang="en-US" sz="1400" dirty="0"/>
          </a:p>
        </p:txBody>
      </p:sp>
      <p:sp>
        <p:nvSpPr>
          <p:cNvPr id="26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și GitHub nu sunt același lucru. Putem folosi Git fără GitHub.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înseamnă LOCAL și REMOTE?</a:t>
            </a:r>
            <a:endParaRPr lang="en-US" sz="3000" dirty="0"/>
          </a:p>
        </p:txBody>
      </p:sp>
      <p:sp>
        <p:nvSpPr>
          <p:cNvPr id="3" name="local"/>
          <p:cNvSpPr/>
          <p:nvPr/>
        </p:nvSpPr>
        <p:spPr>
          <a:xfrm>
            <a:off x="457200" y="10515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0515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Proiectul de pe calculatorul nostru</a:t>
            </a:r>
            <a:endParaRPr lang="en-US" sz="2000" dirty="0"/>
          </a:p>
        </p:txBody>
      </p:sp>
      <p:sp>
        <p:nvSpPr>
          <p:cNvPr id="6" name="remote"/>
          <p:cNvSpPr/>
          <p:nvPr/>
        </p:nvSpPr>
        <p:spPr>
          <a:xfrm>
            <a:off x="5394960" y="1051560"/>
            <a:ext cx="3291840" cy="1371600"/>
          </a:xfrm>
          <a:prstGeom prst="roundRect">
            <a:avLst>
              <a:gd name="adj" fmla="val 8000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23444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217920" y="10515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Repository-ul de pe GitHub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4160520" y="1463040"/>
            <a:ext cx="32004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84048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160520" y="2103120"/>
            <a:ext cx="320040" cy="274320"/>
          </a:xfrm>
          <a:prstGeom prst="leftArrow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0" y="21031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26974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= proiectul și istoricul de pe calculator.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= repository-ul aflat într-o altă locație, de exemplu pe GitHub.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= trimitem commit-urile către GitHub.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pull = aducem și integrăm modificările din remote.</a:t>
            </a:r>
            <a:endParaRPr lang="en-US" sz="1400" dirty="0"/>
          </a:p>
        </p:txBody>
      </p:sp>
      <p:sp>
        <p:nvSpPr>
          <p:cNvPr id="14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modificările făcute pe calculator nu apar automat pe GitHub.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este un Repository?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repository (repo) reprezintă proiectul împreună cu istoricul modificărilor înregistrate de Git.</a:t>
            </a:r>
            <a:endParaRPr lang="en-US" sz="1600" dirty="0"/>
          </a:p>
        </p:txBody>
      </p:sp>
      <p:sp>
        <p:nvSpPr>
          <p:cNvPr id="4" name="code"/>
          <p:cNvSpPr/>
          <p:nvPr/>
        </p:nvSpPr>
        <p:spPr>
          <a:xfrm>
            <a:off x="457200" y="1691640"/>
            <a:ext cx="4206240" cy="2286000"/>
          </a:xfrm>
          <a:prstGeom prst="roundRect">
            <a:avLst>
              <a:gd name="adj" fmla="val 4800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916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Lab01HelloAndroid/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gradle/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build.gradle.kts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settings.gradle.kts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.gitignore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Există:</a:t>
            </a:r>
            <a:endParaRPr lang="en-US" sz="1500" dirty="0"/>
          </a:p>
        </p:txBody>
      </p:sp>
      <p:sp>
        <p:nvSpPr>
          <p:cNvPr id="7" name="rl"/>
          <p:cNvSpPr/>
          <p:nvPr/>
        </p:nvSpPr>
        <p:spPr>
          <a:xfrm>
            <a:off x="5029200" y="205740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74920" y="2121408"/>
            <a:ext cx="493776" cy="493776"/>
          </a:xfrm>
          <a:prstGeom prst="ellipse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219456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23560" y="20574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local – pe calculator</a:t>
            </a:r>
            <a:endParaRPr lang="en-US" sz="1400" dirty="0"/>
          </a:p>
        </p:txBody>
      </p:sp>
      <p:sp>
        <p:nvSpPr>
          <p:cNvPr id="11" name="rr"/>
          <p:cNvSpPr/>
          <p:nvPr/>
        </p:nvSpPr>
        <p:spPr>
          <a:xfrm>
            <a:off x="5029200" y="278892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74920" y="2852928"/>
            <a:ext cx="493776" cy="493776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2926080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623560" y="27889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remote – pe GitHub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0" y="0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laborator: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repository-ul privat va avea numele nume-prenume-labSO.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Public vs. Private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GitHub, un repository poate fi Public sau Private.</a:t>
            </a:r>
            <a:endParaRPr lang="en-US" sz="1500" dirty="0"/>
          </a:p>
        </p:txBody>
      </p:sp>
      <p:sp>
        <p:nvSpPr>
          <p:cNvPr id="4" name="pv0"/>
          <p:cNvSpPr/>
          <p:nvPr/>
        </p:nvSpPr>
        <p:spPr>
          <a:xfrm>
            <a:off x="457200" y="1371600"/>
            <a:ext cx="40233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727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A8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Oricine poate vedea repository-ul și codul sursă.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Exemplu: </a:t>
            </a:r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proiect personal pe care vrem să îl prezentăm altor programatori.</a:t>
            </a:r>
            <a:endParaRPr lang="en-US" sz="1200" dirty="0"/>
          </a:p>
        </p:txBody>
      </p:sp>
      <p:sp>
        <p:nvSpPr>
          <p:cNvPr id="10" name="pv1"/>
          <p:cNvSpPr/>
          <p:nvPr/>
        </p:nvSpPr>
        <p:spPr>
          <a:xfrm>
            <a:off x="4663440" y="1371600"/>
            <a:ext cx="40233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463040"/>
            <a:ext cx="457200" cy="457200"/>
          </a:xfrm>
          <a:prstGeom prst="ellipse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157276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4846320" y="2011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proprietarul și persoanele autorizate pot accesa repository-ul.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Exemplu: </a:t>
            </a:r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proiect de laborator, vizibil doar studentului și persoanelor cărora le acordă acces.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nu înseamnă că oricine poate modifica codul; sunt necesare permisiuni.</a:t>
            </a:r>
            <a:endParaRPr lang="en-US" sz="1200" dirty="0"/>
          </a:p>
        </p:txBody>
      </p:sp>
      <p:sp>
        <p:nvSpPr>
          <p:cNvPr id="17" name="collab"/>
          <p:cNvSpPr/>
          <p:nvPr/>
        </p:nvSpPr>
        <p:spPr>
          <a:xfrm>
            <a:off x="457200" y="361188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94360" y="36118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laborator, repository-ul este privat. </a:t>
            </a:r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ca profesorul să îl poată verifica, îi acordăm acces prin opțiunea Collaborators de pe GitHub.</a:t>
            </a:r>
            <a:endParaRPr lang="en-US" sz="1200" dirty="0"/>
          </a:p>
        </p:txBody>
      </p:sp>
      <p:sp>
        <p:nvSpPr>
          <p:cNvPr id="19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= vizibil tuturor. Private = acces restricționat.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este un Commit?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commit este o versiune a proiectului înregistrată în istoricul Git.</a:t>
            </a:r>
            <a:endParaRPr lang="en-US" sz="1600" dirty="0"/>
          </a:p>
        </p:txBody>
      </p:sp>
      <p:sp>
        <p:nvSpPr>
          <p:cNvPr id="4" name="cm0"/>
          <p:cNvSpPr/>
          <p:nvPr/>
        </p:nvSpPr>
        <p:spPr>
          <a:xfrm>
            <a:off x="457200" y="155448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91640"/>
            <a:ext cx="457200" cy="45720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240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Creare proiect Android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80360" y="2011680"/>
            <a:ext cx="32004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0" name="cm1"/>
          <p:cNvSpPr/>
          <p:nvPr/>
        </p:nvSpPr>
        <p:spPr>
          <a:xfrm>
            <a:off x="3383280" y="155448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2240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Adăugare README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806440" y="2011680"/>
            <a:ext cx="32004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6" name="cm2"/>
          <p:cNvSpPr/>
          <p:nvPr/>
        </p:nvSpPr>
        <p:spPr>
          <a:xfrm>
            <a:off x="6309360" y="1554480"/>
            <a:ext cx="23774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040880" y="1691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3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2402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Adăugare meniu Snake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Exemplu:</a:t>
            </a:r>
            <a:endParaRPr lang="en-US" sz="1300" dirty="0"/>
          </a:p>
        </p:txBody>
      </p:sp>
      <p:sp>
        <p:nvSpPr>
          <p:cNvPr id="22" name="code"/>
          <p:cNvSpPr/>
          <p:nvPr/>
        </p:nvSpPr>
        <p:spPr>
          <a:xfrm>
            <a:off x="457200" y="3200400"/>
            <a:ext cx="5669280" cy="502920"/>
          </a:xfrm>
          <a:prstGeom prst="roundRect">
            <a:avLst>
              <a:gd name="adj" fmla="val 21818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2004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"Lab 01 - creare proiect Android"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3200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mesaj bun trebuie să descrie modificările realizate.</a:t>
            </a:r>
            <a:endParaRPr lang="en-US" sz="1300" dirty="0"/>
          </a:p>
        </p:txBody>
      </p:sp>
      <p:sp>
        <p:nvSpPr>
          <p:cNvPr id="25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commit se creează local. Pentru a-l trimite pe GitHub folosim git push.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este README.md?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este un fișier care descrie proiectul. Conține, de obicei: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numele proiectului;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autorul;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descrierea aplicației;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instrucțiuni de instalare și rulare;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 informații utile.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508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 pentru laborator</a:t>
            </a:r>
            <a:endParaRPr lang="en-US" sz="1300" dirty="0"/>
          </a:p>
        </p:txBody>
      </p:sp>
      <p:sp>
        <p:nvSpPr>
          <p:cNvPr id="6" name="code"/>
          <p:cNvSpPr/>
          <p:nvPr/>
        </p:nvSpPr>
        <p:spPr>
          <a:xfrm>
            <a:off x="4754880" y="1828800"/>
            <a:ext cx="3931920" cy="2148840"/>
          </a:xfrm>
          <a:prstGeom prst="roundRect">
            <a:avLst>
              <a:gd name="adj" fmla="val 5106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82880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Lab 01 - Hello Android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Student: Popescu Andrei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Grupa: 123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GitHub: popescuandrei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Descriere: Prima aplicatie Android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realizata folosind Java si XML.</a:t>
            </a:r>
            <a:endParaRPr lang="en-US" sz="1100" dirty="0"/>
          </a:p>
        </p:txBody>
      </p:sp>
      <p:sp>
        <p:nvSpPr>
          <p:cNvPr id="8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este documentația de bază. Extensia .md înseamnă Markdown.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este .gitignore?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fișier care indică ce fișiere sau directoare trebuie ignorate de Git.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Într-un proiect Android, unele fișiere sunt generate automat sau conțin configurări locale.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îl folosim?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974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a evita includerea fișierelor temporare, a configurărilor locale și a cheilor private.</a:t>
            </a:r>
            <a:endParaRPr lang="en-US" sz="1400" dirty="0"/>
          </a:p>
        </p:txBody>
      </p:sp>
      <p:sp>
        <p:nvSpPr>
          <p:cNvPr id="7" name="code"/>
          <p:cNvSpPr/>
          <p:nvPr/>
        </p:nvSpPr>
        <p:spPr>
          <a:xfrm>
            <a:off x="4846320" y="1508760"/>
            <a:ext cx="3840480" cy="2377440"/>
          </a:xfrm>
          <a:prstGeom prst="roundRect">
            <a:avLst>
              <a:gd name="adj" fmla="val 4615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50876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local.properties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.gradle/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.idea/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*.iml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app/build/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*.jks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*.keystore</a:t>
            </a:r>
            <a:endParaRPr lang="en-US" sz="1400" dirty="0"/>
          </a:p>
        </p:txBody>
      </p:sp>
      <p:sp>
        <p:nvSpPr>
          <p:cNvPr id="9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nu elimină automat fișierele deja urmărite de Git.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Înainte de primul commit</a:t>
            </a:r>
            <a:endParaRPr lang="en-US" sz="3000" dirty="0"/>
          </a:p>
        </p:txBody>
      </p:sp>
      <p:sp>
        <p:nvSpPr>
          <p:cNvPr id="3" name="inst"/>
          <p:cNvSpPr/>
          <p:nvPr/>
        </p:nvSpPr>
        <p:spPr>
          <a:xfrm>
            <a:off x="457200" y="105156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051560"/>
            <a:ext cx="4114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trebuie instalat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Verificăm instalarea:</a:t>
            </a:r>
            <a:endParaRPr lang="en-US" sz="1500" dirty="0"/>
          </a:p>
        </p:txBody>
      </p:sp>
      <p:sp>
        <p:nvSpPr>
          <p:cNvPr id="5" name="code"/>
          <p:cNvSpPr/>
          <p:nvPr/>
        </p:nvSpPr>
        <p:spPr>
          <a:xfrm>
            <a:off x="4937760" y="1234440"/>
            <a:ext cx="3566160" cy="685800"/>
          </a:xfrm>
          <a:prstGeom prst="roundRect">
            <a:avLst>
              <a:gd name="adj" fmla="val 16000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120640" y="12344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600" dirty="0"/>
          </a:p>
        </p:txBody>
      </p:sp>
      <p:sp>
        <p:nvSpPr>
          <p:cNvPr id="7" name="ident"/>
          <p:cNvSpPr/>
          <p:nvPr/>
        </p:nvSpPr>
        <p:spPr>
          <a:xfrm>
            <a:off x="457200" y="2240280"/>
            <a:ext cx="822960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233172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Configurăm identitatea Git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Numele și e-mailul identifică autorul commit-urilor. Înlocuiți exemplele cu datele voastre: adresa reală sau adresa GitHub noreply.</a:t>
            </a:r>
            <a:endParaRPr lang="en-US" sz="1500" dirty="0"/>
          </a:p>
        </p:txBody>
      </p:sp>
      <p:sp>
        <p:nvSpPr>
          <p:cNvPr id="9" name="code"/>
          <p:cNvSpPr/>
          <p:nvPr/>
        </p:nvSpPr>
        <p:spPr>
          <a:xfrm>
            <a:off x="3474720" y="2423160"/>
            <a:ext cx="5029200" cy="1325880"/>
          </a:xfrm>
          <a:prstGeom prst="roundRect">
            <a:avLst>
              <a:gd name="adj" fmla="val 8276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0" y="242316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user.name "Nume Prenume"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config --global user.email "email-asociat-GitHub"</a:t>
            </a:r>
            <a:endParaRPr lang="en-US" sz="1100" dirty="0"/>
          </a:p>
        </p:txBody>
      </p:sp>
      <p:sp>
        <p:nvSpPr>
          <p:cNvPr id="11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configurarea globală se face, de regulă, o singură dată pe calculator.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face git init?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Inițializează un repository Git local în directorul proiectului.</a:t>
            </a:r>
            <a:endParaRPr lang="en-US" sz="1600" dirty="0"/>
          </a:p>
        </p:txBody>
      </p:sp>
      <p:sp>
        <p:nvSpPr>
          <p:cNvPr id="4" name="code"/>
          <p:cNvSpPr/>
          <p:nvPr/>
        </p:nvSpPr>
        <p:spPr>
          <a:xfrm>
            <a:off x="457200" y="1508760"/>
            <a:ext cx="2377440" cy="548640"/>
          </a:xfrm>
          <a:prstGeom prst="roundRect">
            <a:avLst>
              <a:gd name="adj" fmla="val 20000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600" dirty="0"/>
          </a:p>
        </p:txBody>
      </p:sp>
      <p:sp>
        <p:nvSpPr>
          <p:cNvPr id="6" name="fl0"/>
          <p:cNvSpPr/>
          <p:nvPr/>
        </p:nvSpPr>
        <p:spPr>
          <a:xfrm>
            <a:off x="457200" y="228600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286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 Android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Fișiere Java, XML și Gradle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80360" y="2788920"/>
            <a:ext cx="32004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0" name="fl1"/>
          <p:cNvSpPr/>
          <p:nvPr/>
        </p:nvSpPr>
        <p:spPr>
          <a:xfrm>
            <a:off x="3383280" y="228600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286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06440" y="2788920"/>
            <a:ext cx="32004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3" name="fl2"/>
          <p:cNvSpPr/>
          <p:nvPr/>
        </p:nvSpPr>
        <p:spPr>
          <a:xfrm>
            <a:off x="6309360" y="2286000"/>
            <a:ext cx="2377440" cy="1188720"/>
          </a:xfrm>
          <a:prstGeom prst="roundRect">
            <a:avLst>
              <a:gd name="adj" fmla="val 9231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228600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Git local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Directorul ascuns .git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Comanda creează directorul ascuns .git, care păstrează informațiile Git.</a:t>
            </a:r>
            <a:endParaRPr lang="en-US" sz="1400" dirty="0"/>
          </a:p>
        </p:txBody>
      </p:sp>
      <p:sp>
        <p:nvSpPr>
          <p:cNvPr id="16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init nu creează un repository pe GitHub.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face git status?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arată starea fișierelor din proiect.</a:t>
            </a:r>
            <a:endParaRPr lang="en-US" sz="1600" dirty="0"/>
          </a:p>
        </p:txBody>
      </p:sp>
      <p:sp>
        <p:nvSpPr>
          <p:cNvPr id="4" name="code"/>
          <p:cNvSpPr/>
          <p:nvPr/>
        </p:nvSpPr>
        <p:spPr>
          <a:xfrm>
            <a:off x="457200" y="1508760"/>
            <a:ext cx="3200400" cy="548640"/>
          </a:xfrm>
          <a:prstGeom prst="roundRect">
            <a:avLst>
              <a:gd name="adj" fmla="val 20000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permite să vedem: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fișiere noi;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fișiere modificate;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fișiere selectate pentru commit.</a:t>
            </a:r>
            <a:endParaRPr lang="en-US" sz="1500" dirty="0"/>
          </a:p>
        </p:txBody>
      </p:sp>
      <p:sp>
        <p:nvSpPr>
          <p:cNvPr id="8" name="ex15"/>
          <p:cNvSpPr/>
          <p:nvPr/>
        </p:nvSpPr>
        <p:spPr>
          <a:xfrm>
            <a:off x="4389120" y="1508760"/>
            <a:ext cx="429768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0116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Modificăm MainActivity.java, apoi executăm git status pentru a vedea ce s-a schimbat.</a:t>
            </a:r>
            <a:endParaRPr lang="en-US" sz="1500" dirty="0"/>
          </a:p>
        </p:txBody>
      </p:sp>
      <p:sp>
        <p:nvSpPr>
          <p:cNvPr id="11" name="m15"/>
          <p:cNvSpPr/>
          <p:nvPr/>
        </p:nvSpPr>
        <p:spPr>
          <a:xfrm>
            <a:off x="4617720" y="3063240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54880" y="30632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4A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MainActivity.java – modified</a:t>
            </a:r>
            <a:endParaRPr lang="en-US" sz="1300" dirty="0"/>
          </a:p>
        </p:txBody>
      </p:sp>
      <p:sp>
        <p:nvSpPr>
          <p:cNvPr id="13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status doar afișează informații. Nu modifică fișierele.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este Staging Area?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în care selectăm modificările pentru următorul commit.</a:t>
            </a:r>
            <a:endParaRPr lang="en-US" sz="1600" dirty="0"/>
          </a:p>
        </p:txBody>
      </p:sp>
      <p:sp>
        <p:nvSpPr>
          <p:cNvPr id="4" name="st0"/>
          <p:cNvSpPr/>
          <p:nvPr/>
        </p:nvSpPr>
        <p:spPr>
          <a:xfrm>
            <a:off x="457200" y="17373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Directory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Modificăm fișierele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0" y="2240280"/>
            <a:ext cx="32004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51760" y="2606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1100" dirty="0"/>
          </a:p>
        </p:txBody>
      </p:sp>
      <p:sp>
        <p:nvSpPr>
          <p:cNvPr id="8" name="st1"/>
          <p:cNvSpPr/>
          <p:nvPr/>
        </p:nvSpPr>
        <p:spPr>
          <a:xfrm>
            <a:off x="3474720" y="17373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17373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Area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Selectăm modificările pentru commit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760720" y="2240280"/>
            <a:ext cx="320040" cy="274320"/>
          </a:xfrm>
          <a:prstGeom prst="right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0" y="2606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1100" dirty="0"/>
          </a:p>
        </p:txBody>
      </p:sp>
      <p:sp>
        <p:nvSpPr>
          <p:cNvPr id="12" name="st2"/>
          <p:cNvSpPr/>
          <p:nvPr/>
        </p:nvSpPr>
        <p:spPr>
          <a:xfrm>
            <a:off x="6492240" y="1737360"/>
            <a:ext cx="2194560" cy="1463040"/>
          </a:xfrm>
          <a:prstGeom prst="roundRect">
            <a:avLst>
              <a:gd name="adj" fmla="val 7500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73736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local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Înregistrăm versiunea în istoric</a:t>
            </a:r>
            <a:endParaRPr lang="en-US" sz="1700" dirty="0"/>
          </a:p>
        </p:txBody>
      </p:sp>
      <p:sp>
        <p:nvSpPr>
          <p:cNvPr id="14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nu creează un commit. Doar pregătește modificările.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add . vs. git add fișier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Putem selecta toate modificările sau numai anumite fișiere.</a:t>
            </a:r>
            <a:endParaRPr lang="en-US" sz="1600" dirty="0"/>
          </a:p>
        </p:txBody>
      </p:sp>
      <p:sp>
        <p:nvSpPr>
          <p:cNvPr id="4" name="v0"/>
          <p:cNvSpPr/>
          <p:nvPr/>
        </p:nvSpPr>
        <p:spPr>
          <a:xfrm>
            <a:off x="457200" y="1463040"/>
            <a:ext cx="493776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64208"/>
            <a:ext cx="411480" cy="41148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642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996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Toate modificările neignorate (director curent + subdirectoare)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92224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</p:txBody>
      </p:sp>
      <p:sp>
        <p:nvSpPr>
          <p:cNvPr id="9" name="v1"/>
          <p:cNvSpPr/>
          <p:nvPr/>
        </p:nvSpPr>
        <p:spPr>
          <a:xfrm>
            <a:off x="457200" y="2331720"/>
            <a:ext cx="493776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" y="2532888"/>
            <a:ext cx="411480" cy="41148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5328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36829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singur fișier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60904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README.md</a:t>
            </a:r>
            <a:endParaRPr lang="en-US" sz="1100" dirty="0"/>
          </a:p>
        </p:txBody>
      </p:sp>
      <p:sp>
        <p:nvSpPr>
          <p:cNvPr id="14" name="v2"/>
          <p:cNvSpPr/>
          <p:nvPr/>
        </p:nvSpPr>
        <p:spPr>
          <a:xfrm>
            <a:off x="457200" y="3200400"/>
            <a:ext cx="493776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3401568"/>
            <a:ext cx="411480" cy="41148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3401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2369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Două fișiere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529584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README.md app/src/main/AndroidManifest.xml</a:t>
            </a:r>
            <a:endParaRPr lang="en-US" sz="1100" dirty="0"/>
          </a:p>
        </p:txBody>
      </p:sp>
      <p:sp>
        <p:nvSpPr>
          <p:cNvPr id="19" name="files"/>
          <p:cNvSpPr/>
          <p:nvPr/>
        </p:nvSpPr>
        <p:spPr>
          <a:xfrm>
            <a:off x="5623560" y="1508760"/>
            <a:ext cx="306324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80644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selectează:</a:t>
            </a:r>
            <a:endParaRPr lang="en-US" sz="1300" dirty="0"/>
          </a:p>
        </p:txBody>
      </p:sp>
      <p:sp>
        <p:nvSpPr>
          <p:cNvPr id="21" name="f0"/>
          <p:cNvSpPr/>
          <p:nvPr/>
        </p:nvSpPr>
        <p:spPr>
          <a:xfrm>
            <a:off x="5806440" y="2011680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103120"/>
            <a:ext cx="256032" cy="256032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6263640" y="20116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MainActivity.java</a:t>
            </a:r>
            <a:endParaRPr lang="en-US" sz="1200" dirty="0"/>
          </a:p>
        </p:txBody>
      </p:sp>
      <p:sp>
        <p:nvSpPr>
          <p:cNvPr id="24" name="f1"/>
          <p:cNvSpPr/>
          <p:nvPr/>
        </p:nvSpPr>
        <p:spPr>
          <a:xfrm>
            <a:off x="5806440" y="2560320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2651760"/>
            <a:ext cx="256032" cy="256032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263640" y="256032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activity_main.xml</a:t>
            </a:r>
            <a:endParaRPr lang="en-US" sz="1200" dirty="0"/>
          </a:p>
        </p:txBody>
      </p:sp>
      <p:sp>
        <p:nvSpPr>
          <p:cNvPr id="27" name="f2"/>
          <p:cNvSpPr/>
          <p:nvPr/>
        </p:nvSpPr>
        <p:spPr>
          <a:xfrm>
            <a:off x="5806440" y="3108960"/>
            <a:ext cx="2697480" cy="438912"/>
          </a:xfrm>
          <a:prstGeom prst="roundRect">
            <a:avLst>
              <a:gd name="adj" fmla="val 25000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3200400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263640" y="310896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00" dirty="0"/>
          </a:p>
        </p:txBody>
      </p:sp>
      <p:sp>
        <p:nvSpPr>
          <p:cNvPr id="30" name="Text 25"/>
          <p:cNvSpPr txBox="1"/>
          <p:nvPr/>
        </p:nvSpPr>
        <p:spPr>
          <a:xfrm>
            <a:off x="580644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Sunt selectate toate cele trei fișiere modificate.</a:t>
            </a:r>
            <a:endParaRPr lang="en-US" sz="1100" dirty="0"/>
          </a:p>
        </p:txBody>
      </p:sp>
      <p:sp>
        <p:nvSpPr>
          <p:cNvPr id="31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README.md nu deselectează fișierele adăugate anterior în staging.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creăm primul commit?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După ce am selectat modificările, le înregistrăm într-un commit.</a:t>
            </a:r>
            <a:endParaRPr lang="en-US" sz="1600" dirty="0"/>
          </a:p>
        </p:txBody>
      </p:sp>
      <p:sp>
        <p:nvSpPr>
          <p:cNvPr id="4" name="code"/>
          <p:cNvSpPr/>
          <p:nvPr/>
        </p:nvSpPr>
        <p:spPr>
          <a:xfrm>
            <a:off x="457200" y="1463040"/>
            <a:ext cx="4663440" cy="1143000"/>
          </a:xfrm>
          <a:prstGeom prst="roundRect">
            <a:avLst>
              <a:gd name="adj" fmla="val 9600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297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"Lab 01 - proiect Android initial"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2491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69748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Verificăm modificările.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54096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054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026664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Selectăm fișierele dorite.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3355848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Verificăm selecția.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712464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712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3685032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Creăm commit-ul în repository-ul local.</a:t>
            </a:r>
            <a:endParaRPr lang="en-US" sz="1200" dirty="0"/>
          </a:p>
        </p:txBody>
      </p:sp>
      <p:sp>
        <p:nvSpPr>
          <p:cNvPr id="18" name="msgs"/>
          <p:cNvSpPr/>
          <p:nvPr/>
        </p:nvSpPr>
        <p:spPr>
          <a:xfrm>
            <a:off x="5303520" y="1463040"/>
            <a:ext cx="338328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486400" y="15544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Mesaje bune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182880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01 - creare proiect Android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01 - adaugare README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02 - implementare meniu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Mesaje de evitat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53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update, final2, ceva</a:t>
            </a:r>
            <a:endParaRPr lang="en-US" sz="1300" dirty="0"/>
          </a:p>
        </p:txBody>
      </p:sp>
      <p:sp>
        <p:nvSpPr>
          <p:cNvPr id="23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mesajul commit-ului descrie ce s-a modificat.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creăm repository-ul pe GitHub?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După ce avem repository-ul local, creăm și un repository online.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9903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99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1371600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Intrăm pe GitHub.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28216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700784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Selectăm New repository.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2029968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Introducem nume-prenume-labSO.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386584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3865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2359152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Alegem Private.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15768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715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2688336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adăugăm README, .gitignore sau licență.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04495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044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017520"/>
            <a:ext cx="7726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Apăsăm Create repository.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4564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ne oferă un link HTTPS:</a:t>
            </a:r>
            <a:endParaRPr lang="en-US" sz="1300" dirty="0"/>
          </a:p>
        </p:txBody>
      </p:sp>
      <p:sp>
        <p:nvSpPr>
          <p:cNvPr id="23" name="code"/>
          <p:cNvSpPr/>
          <p:nvPr/>
        </p:nvSpPr>
        <p:spPr>
          <a:xfrm>
            <a:off x="457200" y="3712464"/>
            <a:ext cx="8229600" cy="365760"/>
          </a:xfrm>
          <a:prstGeom prst="roundRect">
            <a:avLst>
              <a:gd name="adj" fmla="val 30000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71246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https://github.com/USERNAME/nume-prenume-labSO.git</a:t>
            </a:r>
            <a:endParaRPr lang="en-US" sz="1200" dirty="0"/>
          </a:p>
        </p:txBody>
      </p:sp>
      <p:sp>
        <p:nvSpPr>
          <p:cNvPr id="25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 avem două repository-uri, dar încă trebuie să le conectăm.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conectăm repository-ul local la GitHub?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terminalul Android Studio executăm:</a:t>
            </a:r>
            <a:endParaRPr lang="en-US" sz="1400" dirty="0"/>
          </a:p>
        </p:txBody>
      </p:sp>
      <p:sp>
        <p:nvSpPr>
          <p:cNvPr id="4" name="code"/>
          <p:cNvSpPr/>
          <p:nvPr/>
        </p:nvSpPr>
        <p:spPr>
          <a:xfrm>
            <a:off x="457200" y="123444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branch -M 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URL_REPOSITORY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main</a:t>
            </a:r>
            <a:endParaRPr lang="en-US" sz="1200" dirty="0"/>
          </a:p>
        </p:txBody>
      </p:sp>
      <p:sp>
        <p:nvSpPr>
          <p:cNvPr id="6" name="lc"/>
          <p:cNvSpPr/>
          <p:nvPr/>
        </p:nvSpPr>
        <p:spPr>
          <a:xfrm>
            <a:off x="5943600" y="123444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234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· Lab01HelloAndroid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78040" y="1627632"/>
            <a:ext cx="274320" cy="320040"/>
          </a:xfrm>
          <a:prstGeom prst="down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9" name="gh"/>
          <p:cNvSpPr/>
          <p:nvPr/>
        </p:nvSpPr>
        <p:spPr>
          <a:xfrm>
            <a:off x="5943600" y="1965960"/>
            <a:ext cx="2743200" cy="384048"/>
          </a:xfrm>
          <a:prstGeom prst="roundRect">
            <a:avLst>
              <a:gd name="adj" fmla="val 28571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965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nume-prenume-labSO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194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URL_REPOSITORY</a:t>
            </a:r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 înlocuiește cu linkul HTTPS copiat de pe GitHub. De exemplu:</a:t>
            </a:r>
            <a:endParaRPr lang="en-US" sz="1200" dirty="0"/>
          </a:p>
        </p:txBody>
      </p:sp>
      <p:sp>
        <p:nvSpPr>
          <p:cNvPr id="12" name="code"/>
          <p:cNvSpPr/>
          <p:nvPr/>
        </p:nvSpPr>
        <p:spPr>
          <a:xfrm>
            <a:off x="457200" y="2697480"/>
            <a:ext cx="8229600" cy="384048"/>
          </a:xfrm>
          <a:prstGeom prst="roundRect">
            <a:avLst>
              <a:gd name="adj" fmla="val 28571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6974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remote add origin https://github.com/popescuandrei/popescu-andrei-labSO.git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004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branch -M main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Redenumește branch-ul curent în main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remote add origin URL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Configurează adresa repository-ului remote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2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push -u origin main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Trimite branch-ul pe GitHub și stabilește legătura implicită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18288" marB="18288" anchor="ctr">
                    <a:lnL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executăm git remote add origin la fiecare laborator. Este o configurare inițială.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sunt Push, Pull și Clone?</a:t>
            </a:r>
            <a:endParaRPr lang="en-US" sz="3000" dirty="0"/>
          </a:p>
        </p:txBody>
      </p:sp>
      <p:sp>
        <p:nvSpPr>
          <p:cNvPr id="3" name="pp0"/>
          <p:cNvSpPr/>
          <p:nvPr/>
        </p:nvSpPr>
        <p:spPr>
          <a:xfrm>
            <a:off x="457200" y="10972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cmd0"/>
          <p:cNvSpPr/>
          <p:nvPr/>
        </p:nvSpPr>
        <p:spPr>
          <a:xfrm>
            <a:off x="640080" y="128016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Trimite commit-urile locale pe GitHub</a:t>
            </a:r>
            <a:endParaRPr lang="en-US" sz="1400" dirty="0"/>
          </a:p>
        </p:txBody>
      </p:sp>
      <p:sp>
        <p:nvSpPr>
          <p:cNvPr id="7" name="pp1"/>
          <p:cNvSpPr/>
          <p:nvPr/>
        </p:nvSpPr>
        <p:spPr>
          <a:xfrm>
            <a:off x="3291840" y="10972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cmd1"/>
          <p:cNvSpPr/>
          <p:nvPr/>
        </p:nvSpPr>
        <p:spPr>
          <a:xfrm>
            <a:off x="3474720" y="128016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Aduce și integrează modificările remote</a:t>
            </a:r>
            <a:endParaRPr lang="en-US" sz="1400" dirty="0"/>
          </a:p>
        </p:txBody>
      </p:sp>
      <p:sp>
        <p:nvSpPr>
          <p:cNvPr id="11" name="pp2"/>
          <p:cNvSpPr/>
          <p:nvPr/>
        </p:nvSpPr>
        <p:spPr>
          <a:xfrm>
            <a:off x="6126480" y="10972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cmd2"/>
          <p:cNvSpPr/>
          <p:nvPr/>
        </p:nvSpPr>
        <p:spPr>
          <a:xfrm>
            <a:off x="6309360" y="1280160"/>
            <a:ext cx="2286000" cy="457200"/>
          </a:xfrm>
          <a:prstGeom prst="roundRect">
            <a:avLst>
              <a:gd name="adj" fmla="val 24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URL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92024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Creează o copie locală a unui repository existent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154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Exemplu: </a:t>
            </a:r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făcut un commit pe calculator și vrem să apară pe GitHub → </a:t>
            </a:r>
            <a:pPr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400" dirty="0"/>
          </a:p>
        </p:txBody>
      </p:sp>
      <p:sp>
        <p:nvSpPr>
          <p:cNvPr id="16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clone copiază un repository existent. git pull actualizează unul deja existent.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 doilea commit: adăugăm README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Creăm fișierul README.md în directorul principal al proiectului. Apoi executăm:</a:t>
            </a:r>
            <a:endParaRPr lang="en-US" sz="1500" dirty="0"/>
          </a:p>
        </p:txBody>
      </p:sp>
      <p:sp>
        <p:nvSpPr>
          <p:cNvPr id="4" name="code"/>
          <p:cNvSpPr/>
          <p:nvPr/>
        </p:nvSpPr>
        <p:spPr>
          <a:xfrm>
            <a:off x="457200" y="1508760"/>
            <a:ext cx="4206240" cy="1508760"/>
          </a:xfrm>
          <a:prstGeom prst="roundRect">
            <a:avLst>
              <a:gd name="adj" fmla="val 7273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README.md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"Lab 01 - adaugare README"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9377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se întâmplă?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8288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Verificăm modificările.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Selectăm fișierul README.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Verificăm selecția.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Înregistrăm commit-ul local.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Trimitem commit-ul pe GitHub.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0040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După push, verificăm că fișierul README și commit-ul apar în repository.</a:t>
            </a:r>
            <a:endParaRPr lang="en-US" sz="1400" dirty="0"/>
          </a:p>
        </p:txBody>
      </p:sp>
      <p:sp>
        <p:nvSpPr>
          <p:cNvPr id="9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push-ul trimite commit-ul local pe GitHub.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BRANCH-URI ȘI LUCRUL ÎN ECHIPĂ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830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Aceste concepte sunt prezentate pentru a înțelege colaborarea într-o echipă de programatori.</a:t>
            </a:r>
            <a:endParaRPr lang="en-US" sz="2600" dirty="0"/>
          </a:p>
        </p:txBody>
      </p:sp>
      <p:sp>
        <p:nvSpPr>
          <p:cNvPr id="4" name="lab1main"/>
          <p:cNvSpPr/>
          <p:nvPr/>
        </p:nvSpPr>
        <p:spPr>
          <a:xfrm>
            <a:off x="640080" y="3291840"/>
            <a:ext cx="7863840" cy="731520"/>
          </a:xfrm>
          <a:prstGeom prst="roundRect">
            <a:avLst>
              <a:gd name="adj" fmla="val 15000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29184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În Laboratorul 1 lucrăm doar pe branch-ul main.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sunt Branch și Main?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branch este o linie separată de dezvoltare. Ne permite să lucrăm la funcționalități noi fără să modificăm imediat versiunea principală.</a:t>
            </a:r>
            <a:endParaRPr lang="en-US" sz="1500" dirty="0"/>
          </a:p>
        </p:txBody>
      </p:sp>
      <p:sp>
        <p:nvSpPr>
          <p:cNvPr id="4" name="br0"/>
          <p:cNvSpPr/>
          <p:nvPr/>
        </p:nvSpPr>
        <p:spPr>
          <a:xfrm>
            <a:off x="457200" y="1737360"/>
            <a:ext cx="2926080" cy="502920"/>
          </a:xfrm>
          <a:prstGeom prst="roundRect">
            <a:avLst>
              <a:gd name="adj" fmla="val 21818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17373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branch-ul principal</a:t>
            </a:r>
            <a:endParaRPr lang="en-US" sz="1500" dirty="0"/>
          </a:p>
        </p:txBody>
      </p:sp>
      <p:sp>
        <p:nvSpPr>
          <p:cNvPr id="7" name="br1"/>
          <p:cNvSpPr/>
          <p:nvPr/>
        </p:nvSpPr>
        <p:spPr>
          <a:xfrm>
            <a:off x="457200" y="2377440"/>
            <a:ext cx="2926080" cy="502920"/>
          </a:xfrm>
          <a:prstGeom prst="roundRect">
            <a:avLst>
              <a:gd name="adj" fmla="val 21818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774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feature/meniu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3774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pentru meniul jocului</a:t>
            </a:r>
            <a:endParaRPr lang="en-US" sz="1500" dirty="0"/>
          </a:p>
        </p:txBody>
      </p:sp>
      <p:sp>
        <p:nvSpPr>
          <p:cNvPr id="10" name="br2"/>
          <p:cNvSpPr/>
          <p:nvPr/>
        </p:nvSpPr>
        <p:spPr>
          <a:xfrm>
            <a:off x="457200" y="3017520"/>
            <a:ext cx="2926080" cy="502920"/>
          </a:xfrm>
          <a:prstGeom prst="roundRect">
            <a:avLst>
              <a:gd name="adj" fmla="val 21818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feature/scor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0175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pentru sistemul de scor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Exemplu: </a:t>
            </a:r>
            <a:pPr indent="0" marL="0">
              <a:buNone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Andrei dezvoltă meniul, iar Maria dezvoltă scorul, fiecare pe branch-ul propriu.</a:t>
            </a:r>
            <a:endParaRPr lang="en-US" sz="1400" dirty="0"/>
          </a:p>
        </p:txBody>
      </p:sp>
      <p:sp>
        <p:nvSpPr>
          <p:cNvPr id="14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= versiunea principală a proiectului.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arată un Branch?</a:t>
            </a:r>
            <a:endParaRPr lang="en-US" sz="3000" dirty="0"/>
          </a:p>
        </p:txBody>
      </p:sp>
      <p:pic>
        <p:nvPicPr>
          <p:cNvPr id="3" name="Image 0" descr="Schemă cu branch-urile main, feature/meniu și feature/sc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7863840" cy="29489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1005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3589020" y="1887093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feature/meniu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589020" y="3459861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5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feature/scor</a:t>
            </a:r>
            <a:endParaRPr lang="en-US" sz="1600" dirty="0"/>
          </a:p>
        </p:txBody>
      </p:sp>
      <p:sp>
        <p:nvSpPr>
          <p:cNvPr id="7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Schemă simplificată: dezvoltarea separată a funcționalităților și integrarea lor în main.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lucrăm pe un Branch?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Exemplu: dezvoltăm meniul jocului Snake.</a:t>
            </a:r>
            <a:endParaRPr lang="en-US" sz="1600" dirty="0"/>
          </a:p>
        </p:txBody>
      </p:sp>
      <p:sp>
        <p:nvSpPr>
          <p:cNvPr id="4" name="code"/>
          <p:cNvSpPr/>
          <p:nvPr/>
        </p:nvSpPr>
        <p:spPr>
          <a:xfrm>
            <a:off x="457200" y="1463040"/>
            <a:ext cx="4754880" cy="2560320"/>
          </a:xfrm>
          <a:prstGeom prst="roundRect">
            <a:avLst>
              <a:gd name="adj" fmla="val 4286"/>
            </a:avLst>
          </a:prstGeom>
          <a:solidFill>
            <a:srgbClr val="10222E"/>
          </a:solidFill>
          <a:ln w="12700">
            <a:solidFill>
              <a:srgbClr val="1022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switch -c feature/meniu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Modificăm și testăm codul aplicației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"Adaugare meniu"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5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-u origin feature/meniu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face fiecare pas?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8288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-c: creează și activează branch-ul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Modificăm și testăm codul: branch-ul nu implementează singur funcționalitatea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verificăm ce fișiere sunt modificate și care sunt deja selectate pentru commit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selectează modificările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înregistrează local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push: trimite branch-ul pe GitHub</a:t>
            </a:r>
            <a:endParaRPr lang="en-US" sz="1300" dirty="0"/>
          </a:p>
        </p:txBody>
      </p:sp>
      <p:sp>
        <p:nvSpPr>
          <p:cNvPr id="8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laboratoarele actuale lucrăm pe main. Branch-urile sunt prezentate pentru a înțelege lucrul în echipă.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PARTEA III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se lucrează cu Git într-o companie</a:t>
            </a:r>
            <a:endParaRPr lang="en-US" sz="3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 programatori, un singur proiect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companie IT dezvoltă jocul Android Snake. La proiect lucrează trei programatori:</a:t>
            </a:r>
            <a:endParaRPr lang="en-US" sz="1500" dirty="0"/>
          </a:p>
        </p:txBody>
      </p:sp>
      <p:sp>
        <p:nvSpPr>
          <p:cNvPr id="4" name="pr0"/>
          <p:cNvSpPr/>
          <p:nvPr/>
        </p:nvSpPr>
        <p:spPr>
          <a:xfrm>
            <a:off x="457200" y="141732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554480"/>
            <a:ext cx="502920" cy="502920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664208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4173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Andrei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Meniul jocului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1508760" y="2468880"/>
            <a:ext cx="274320" cy="320040"/>
          </a:xfrm>
          <a:prstGeom prst="down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9" name="pr1"/>
          <p:cNvSpPr/>
          <p:nvPr/>
        </p:nvSpPr>
        <p:spPr>
          <a:xfrm>
            <a:off x="3383280" y="141732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166420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160520" y="14173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Sistemul de scor</a:t>
            </a:r>
            <a:endParaRPr lang="en-US" sz="1700" dirty="0"/>
          </a:p>
        </p:txBody>
      </p:sp>
      <p:sp>
        <p:nvSpPr>
          <p:cNvPr id="13" name="Shape 9"/>
          <p:cNvSpPr/>
          <p:nvPr/>
        </p:nvSpPr>
        <p:spPr>
          <a:xfrm>
            <a:off x="4434840" y="2468880"/>
            <a:ext cx="274320" cy="320040"/>
          </a:xfrm>
          <a:prstGeom prst="downArrow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4" name="pr2"/>
          <p:cNvSpPr/>
          <p:nvPr/>
        </p:nvSpPr>
        <p:spPr>
          <a:xfrm>
            <a:off x="6309360" y="141732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46520" y="1554480"/>
            <a:ext cx="502920" cy="502920"/>
          </a:xfrm>
          <a:prstGeom prst="ellipse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1664208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86600" y="141732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Corectarea erorilor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7360920" y="2468880"/>
            <a:ext cx="274320" cy="320040"/>
          </a:xfrm>
          <a:prstGeom prst="downArrow">
            <a:avLst/>
          </a:prstGeom>
          <a:solidFill>
            <a:srgbClr val="D9534F"/>
          </a:solidFill>
          <a:ln w="12700">
            <a:solidFill>
              <a:srgbClr val="D9534F"/>
            </a:solidFill>
            <a:prstDash val="solid"/>
          </a:ln>
        </p:spPr>
      </p:sp>
      <p:sp>
        <p:nvSpPr>
          <p:cNvPr id="19" name="common"/>
          <p:cNvSpPr/>
          <p:nvPr/>
        </p:nvSpPr>
        <p:spPr>
          <a:xfrm>
            <a:off x="1828800" y="2834640"/>
            <a:ext cx="5486400" cy="822960"/>
          </a:xfrm>
          <a:prstGeom prst="roundRect">
            <a:avLst>
              <a:gd name="adj" fmla="val 13333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3017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743200" y="283464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comun pe GitHub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Proiectul Snake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Fiecare lucrează pe un branch separat, iar modificările sunt ulterior integrate.</a:t>
            </a:r>
            <a:endParaRPr lang="en-US" sz="1300" dirty="0"/>
          </a:p>
        </p:txBody>
      </p:sp>
      <p:sp>
        <p:nvSpPr>
          <p:cNvPr id="23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nu lucrează toți direct pe main?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Pentru a verifica funcționalitățile separat, înainte de integrare.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este un Pull Request?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cerere de integrare a modificărilor dintr-un branch în alt branch.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Andrei a terminat meniul Snake: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1907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69164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Creează un commit.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7627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76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14884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Trimite branch-ul pe GitHub.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3347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334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60604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Creează un Pull Request către main.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09067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0906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06324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coleg verifică modificările.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4787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520440"/>
            <a:ext cx="4069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După aprobare, modificările pot fi integrate.</a:t>
            </a:r>
            <a:endParaRPr lang="en-US" sz="1300" dirty="0"/>
          </a:p>
        </p:txBody>
      </p:sp>
      <p:sp>
        <p:nvSpPr>
          <p:cNvPr id="20" name="pr"/>
          <p:cNvSpPr/>
          <p:nvPr/>
        </p:nvSpPr>
        <p:spPr>
          <a:xfrm>
            <a:off x="5303520" y="137160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5486400" y="15087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#12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highlight>
                  <a:srgbClr val="1BA862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 Open 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8745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Adăugare meniu principal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2402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D7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feature/meniu → main</a:t>
            </a:r>
            <a:endParaRPr lang="en-US" sz="1200" dirty="0"/>
          </a:p>
        </p:txBody>
      </p:sp>
      <p:sp>
        <p:nvSpPr>
          <p:cNvPr id="24" name="review"/>
          <p:cNvSpPr/>
          <p:nvPr/>
        </p:nvSpPr>
        <p:spPr>
          <a:xfrm>
            <a:off x="5486400" y="2651760"/>
            <a:ext cx="3017520" cy="1143000"/>
          </a:xfrm>
          <a:prstGeom prst="roundRect">
            <a:avLst>
              <a:gd name="adj" fmla="val 9600"/>
            </a:avLst>
          </a:prstGeom>
          <a:solidFill>
            <a:srgbClr val="E4F5EC"/>
          </a:solidFill>
          <a:ln w="12700">
            <a:solidFill>
              <a:srgbClr val="E4F5E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23560" y="265176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coleg verifică funcționalitatea și poate solicita corecturi.</a:t>
            </a:r>
            <a:endParaRPr lang="en-US" sz="1300" dirty="0"/>
          </a:p>
        </p:txBody>
      </p:sp>
      <p:sp>
        <p:nvSpPr>
          <p:cNvPr id="26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reținut: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trimite codul pe GitHub, dar nu îl integrează automat în main.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 creăm un Pull Request?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Request-ul se creează pe GitHub, din interfața web. Nu avem nevoie de comenzi în terminal.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 GitHub: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6479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64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73736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Deschidem repository-ul.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2199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19456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Apăsăm Compare &amp; pull request (sau Pull requests → New pull request).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7919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679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265176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Alegem main ca destinație și feature/meniu ca sursă.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3639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310896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Scriem titlul și descrierea modificărilor.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93592"/>
            <a:ext cx="347472" cy="347472"/>
          </a:xfrm>
          <a:prstGeom prst="ellipse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593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3566160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Apăsăm Create pull request.</a:t>
            </a:r>
            <a:endParaRPr lang="en-US" sz="1200" dirty="0"/>
          </a:p>
        </p:txBody>
      </p:sp>
      <p:sp>
        <p:nvSpPr>
          <p:cNvPr id="20" name="ghmock"/>
          <p:cNvSpPr/>
          <p:nvPr/>
        </p:nvSpPr>
        <p:spPr>
          <a:xfrm>
            <a:off x="5394960" y="1417320"/>
            <a:ext cx="3291840" cy="256032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banner"/>
          <p:cNvSpPr/>
          <p:nvPr/>
        </p:nvSpPr>
        <p:spPr>
          <a:xfrm>
            <a:off x="5577840" y="1554480"/>
            <a:ext cx="2926080" cy="502920"/>
          </a:xfrm>
          <a:prstGeom prst="roundRect">
            <a:avLst>
              <a:gd name="adj" fmla="val 21818"/>
            </a:avLst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feature/meniu</a:t>
            </a:r>
            <a:pPr indent="0" marL="0">
              <a:buNone/>
            </a:pPr>
            <a:r>
              <a:rPr lang="en-US" sz="11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had recent pushes</a:t>
            </a:r>
            <a:endParaRPr lang="en-US" sz="1100" dirty="0"/>
          </a:p>
        </p:txBody>
      </p:sp>
      <p:sp>
        <p:nvSpPr>
          <p:cNvPr id="23" name="btn"/>
          <p:cNvSpPr/>
          <p:nvPr/>
        </p:nvSpPr>
        <p:spPr>
          <a:xfrm>
            <a:off x="5577840" y="2194560"/>
            <a:ext cx="2926080" cy="411480"/>
          </a:xfrm>
          <a:prstGeom prst="roundRect">
            <a:avLst>
              <a:gd name="adj" fmla="val 26667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&amp; pull request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23560" y="27432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</a:t>
            </a:r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</a:t>
            </a:r>
            <a:pPr indent="0" marL="0">
              <a:buNone/>
            </a:pPr>
            <a:r>
              <a:rPr lang="en-US" sz="1200" b="1" dirty="0">
                <a:solidFill>
                  <a:srgbClr val="1220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feature/meniu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Adăugare meniu Snake</a:t>
            </a:r>
            <a:endParaRPr lang="en-US" sz="1200" dirty="0"/>
          </a:p>
        </p:txBody>
      </p:sp>
      <p:sp>
        <p:nvSpPr>
          <p:cNvPr id="26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coleg verifică codul; după aprobare, cineva cu permisiuni apasă Merge pull request.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este Merge?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Operația prin care integrăm modificările dintr-un branch în altul.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Andrei a terminat meniul Snake: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Codul este pe branch-ul feature/meniu.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Colegii verifică modificările.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Modificările sunt integrate în main.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2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Versiunea principală include acum meniul.</a:t>
            </a:r>
            <a:endParaRPr lang="en-US" sz="1400" dirty="0"/>
          </a:p>
        </p:txBody>
      </p:sp>
      <p:sp>
        <p:nvSpPr>
          <p:cNvPr id="6" name="fm"/>
          <p:cNvSpPr/>
          <p:nvPr/>
        </p:nvSpPr>
        <p:spPr>
          <a:xfrm>
            <a:off x="5029200" y="137160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371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feature/meniu · funcționalitate nouă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2011680"/>
            <a:ext cx="274320" cy="320040"/>
          </a:xfrm>
          <a:prstGeom prst="downArrow">
            <a:avLst/>
          </a:prstGeom>
          <a:solidFill>
            <a:srgbClr val="1BA862"/>
          </a:solidFill>
          <a:ln w="12700">
            <a:solidFill>
              <a:srgbClr val="1BA8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8660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A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10" name="mn"/>
          <p:cNvSpPr/>
          <p:nvPr/>
        </p:nvSpPr>
        <p:spPr>
          <a:xfrm>
            <a:off x="5029200" y="242316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0" y="242316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versiunea principală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20840" y="3063240"/>
            <a:ext cx="274320" cy="320040"/>
          </a:xfrm>
          <a:prstGeom prst="downArrow">
            <a:avLst/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3" name="mr"/>
          <p:cNvSpPr/>
          <p:nvPr/>
        </p:nvSpPr>
        <p:spPr>
          <a:xfrm>
            <a:off x="5029200" y="3429000"/>
            <a:ext cx="3657600" cy="594360"/>
          </a:xfrm>
          <a:prstGeom prst="roundRect">
            <a:avLst>
              <a:gd name="adj" fmla="val 18462"/>
            </a:avLst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34290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· include acum meniul</a:t>
            </a:r>
            <a:endParaRPr lang="en-US" sz="1300" dirty="0"/>
          </a:p>
        </p:txBody>
      </p:sp>
      <p:sp>
        <p:nvSpPr>
          <p:cNvPr id="15" name="takeaway"/>
          <p:cNvSpPr/>
          <p:nvPr/>
        </p:nvSpPr>
        <p:spPr>
          <a:xfrm>
            <a:off x="457200" y="41605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0E2A3A"/>
          </a:solidFill>
          <a:ln w="12700">
            <a:solidFill>
              <a:srgbClr val="0E2A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BE0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dacă două modificări sunt incompatibile, poate apărea un merge conflict, rezolvat înainte de integrare.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t GitHub">
  <a:themeElements>
    <a:clrScheme name="Git GitHub">
      <a:dk1>
        <a:srgbClr val="12202B"/>
      </a:dk1>
      <a:lt1>
        <a:srgbClr val="FFFFFF"/>
      </a:lt1>
      <a:dk2>
        <a:srgbClr val="0E2A3A"/>
      </a:dk2>
      <a:lt2>
        <a:srgbClr val="F2F6F8"/>
      </a:lt2>
      <a:accent1>
        <a:srgbClr val="1BA862"/>
      </a:accent1>
      <a:accent2>
        <a:srgbClr val="0E2A3A"/>
      </a:accent2>
      <a:accent3>
        <a:srgbClr val="3D7EA6"/>
      </a:accent3>
      <a:accent4>
        <a:srgbClr val="F2A93B"/>
      </a:accent4>
      <a:accent5>
        <a:srgbClr val="7A8B97"/>
      </a:accent5>
      <a:accent6>
        <a:srgbClr val="D9534F"/>
      </a:accent6>
      <a:hlink>
        <a:srgbClr val="1F6FB2"/>
      </a:hlink>
      <a:folHlink>
        <a:srgbClr val="7A5C99"/>
      </a:folHlink>
    </a:clrScheme>
    <a:fontScheme name="Git GitHu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și GitHub</dc:title>
  <dc:subject/>
  <dc:creator/>
  <cp:lastModifiedBy/>
  <cp:revision>1</cp:revision>
  <dcterms:created xsi:type="dcterms:W3CDTF">2026-10-08T11:49:09Z</dcterms:created>
  <dcterms:modified xsi:type="dcterms:W3CDTF">2026-10-08T11:49:09Z</dcterms:modified>
  <dc:description/>
  <cp:keywords/>
  <cp:category/>
</cp:coreProperties>
</file>