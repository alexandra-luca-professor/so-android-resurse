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8" r:id="rId29"/>
    <p:sldId id="259" r:id="rId5"/>
    <p:sldId id="272" r:id="rId17"/>
    <p:sldId id="260" r:id="rId6"/>
    <p:sldId id="261" r:id="rId7"/>
    <p:sldId id="273" r:id="rId24"/>
    <p:sldId id="262" r:id="rId8"/>
    <p:sldId id="263" r:id="rId9"/>
    <p:sldId id="274" r:id="rId25"/>
    <p:sldId id="264" r:id="rId10"/>
    <p:sldId id="279" r:id="rId30"/>
    <p:sldId id="265" r:id="rId11"/>
    <p:sldId id="275" r:id="rId26"/>
    <p:sldId id="266" r:id="rId12"/>
    <p:sldId id="276" r:id="rId27"/>
    <p:sldId id="267" r:id="rId13"/>
    <p:sldId id="268" r:id="rId14"/>
    <p:sldId id="269" r:id="rId15"/>
    <p:sldId id="277" r:id="rId28"/>
    <p:sldId id="270" r:id="rId16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3.xml"/><Relationship Id="rId11" Type="http://schemas.openxmlformats.org/officeDocument/2006/relationships/slide" Target="slides/slide15.xml"/><Relationship Id="rId12" Type="http://schemas.openxmlformats.org/officeDocument/2006/relationships/slide" Target="slides/slide17.xml"/><Relationship Id="rId13" Type="http://schemas.openxmlformats.org/officeDocument/2006/relationships/slide" Target="slides/slide19.xml"/><Relationship Id="rId14" Type="http://schemas.openxmlformats.org/officeDocument/2006/relationships/slide" Target="slides/slide20.xml"/><Relationship Id="rId15" Type="http://schemas.openxmlformats.org/officeDocument/2006/relationships/slide" Target="slides/slide21.xml"/><Relationship Id="rId16" Type="http://schemas.openxmlformats.org/officeDocument/2006/relationships/slide" Target="slides/slide23.xml"/><Relationship Id="rId17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9.xml"/><Relationship Id="rId25" Type="http://schemas.openxmlformats.org/officeDocument/2006/relationships/slide" Target="slides/slide12.xml"/><Relationship Id="rId26" Type="http://schemas.openxmlformats.org/officeDocument/2006/relationships/slide" Target="slides/slide16.xml"/><Relationship Id="rId27" Type="http://schemas.openxmlformats.org/officeDocument/2006/relationships/slide" Target="slides/slide18.xml"/><Relationship Id="rId28" Type="http://schemas.openxmlformats.org/officeDocument/2006/relationships/slide" Target="slides/slide22.xml"/><Relationship Id="rId29" Type="http://schemas.openxmlformats.org/officeDocument/2006/relationships/slide" Target="slides/slide4.xml"/><Relationship Id="rId3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5029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LABORATORUL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6868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Snake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Astăzi desenăm o tablă statică. Mișcarea începe la Lab 4.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Reprezentăm pozițiile prin celule, desenăm grila și șarpele și identificăm celula atinsă.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Datele jocului rămân separate de desenare.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6634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Sisteme de Operare — Android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Legătura cu cursul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485648"/>
          </a:xfrm>
          <a:prstGeom prst="roundRect">
            <a:avLst>
              <a:gd name="adj" fmla="val 11297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932688"/>
            <a:ext cx="7808976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 2, p. 16–18: View, ViewGroup și interfața Android.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46352"/>
            <a:ext cx="8138160" cy="64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 3, p. 5–8: procese, pornirea aplicațiilor și Zygote.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Canvas, Paint și onDraw() sunt completări practice introduse în acest laborator.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316480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2481072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3544" y="2316480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RecyclerView și Fragments din Cursul 3 vor fi aplicate la Lab 7–8.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View personalizat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733552"/>
          </a:xfrm>
          <a:prstGeom prst="roundRect">
            <a:avLst>
              <a:gd name="adj" fmla="val 7479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932688"/>
            <a:ext cx="7808976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View ocupă o zonă a interfeței. Printr-o subclasă definim desenarea și interacțiunea proprii.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794256"/>
            <a:ext cx="8138160" cy="813816"/>
          </a:xfrm>
          <a:prstGeom prst="roundRect">
            <a:avLst>
              <a:gd name="adj" fmla="val 5618"/>
            </a:avLst>
          </a:prstGeom>
          <a:solidFill>
            <a:srgbClr val="1C2B22"/>
          </a:solidFill>
          <a:ln w="12700">
            <a:solidFill>
              <a:srgbClr val="1C2B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" y="1885696"/>
            <a:ext cx="78455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BoardView extends View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Constructori și metode oferite în starter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736088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" y="2900680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23544" y="2736088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GameActivity găzduiește ecranul. BoardView reprezintă tabla din acel ecran. GameState păstrează datele.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 se leagă fișierele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32688"/>
          <a:ext cx="8138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GameActivity.java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încarcă activity_game.xml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activity_game.xml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conține BoardView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BoardView.java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desenează tabla și primește touch-ul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GameState.java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păstrează șarpele și obstacolele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strings.xml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păstrează textele aplicației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502920" y="2600000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2764592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3544" y="2600000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fișier are o singură responsabilitate.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 și Paint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4425696"/>
            <a:ext cx="8138160" cy="420624"/>
          </a:xfrm>
          <a:prstGeom prst="roundRect">
            <a:avLst>
              <a:gd name="adj" fmla="val 13043"/>
            </a:avLst>
          </a:prstGeom>
          <a:solidFill>
            <a:srgbClr val="E8F3E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4498848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4425696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dimensiune are dreptunghiul de mai sus: 100 × 100 sau 80 × 80?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932688"/>
            <a:ext cx="8138160" cy="485648"/>
          </a:xfrm>
          <a:prstGeom prst="roundRect">
            <a:avLst>
              <a:gd name="adj" fmla="val 11297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" y="932688"/>
            <a:ext cx="7808976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oferă operații de desenare; Paint stabilește culoarea, stilul și grosimea.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1546352"/>
            <a:ext cx="8138160" cy="417576"/>
          </a:xfrm>
          <a:prstGeom prst="roundRect">
            <a:avLst>
              <a:gd name="adj" fmla="val 10949"/>
            </a:avLst>
          </a:prstGeom>
          <a:solidFill>
            <a:srgbClr val="1C2B22"/>
          </a:solidFill>
          <a:ln w="12700">
            <a:solidFill>
              <a:srgbClr val="1C2B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" y="1637792"/>
            <a:ext cx="784555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canvas.drawRect(20f, 20f, 100f, 100f, snakePaint);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091944"/>
            <a:ext cx="8138160" cy="57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Parametrii sunt left, top, right, bottom și Paint. Ultimele coordonate nu sunt lățimea și înălțimea.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2798064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2962656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3544" y="2798064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Pregătim Paint o singură dată și îl refolosim.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Răspuns: Canvas și Paint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485648"/>
          </a:xfrm>
          <a:prstGeom prst="roundRect">
            <a:avLst>
              <a:gd name="adj" fmla="val 11297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932688"/>
            <a:ext cx="7808976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canvas.drawRect(20f, 20f, 100f, 100f, snakePaint): ce dimensiune are dreptunghiul, 100 × 100 sau 80 × 80?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46352"/>
            <a:ext cx="8138160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× 80.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Lățimea = right − left = 100 − 20 = 80.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Înălțimea = bottom − top = 100 − 20 = 80.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628392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2792984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3544" y="2628392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drawRect() primește colțurile dreptunghiului, nu lățimea și înălțimea.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Coordonatele tablei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485648"/>
          </a:xfrm>
          <a:prstGeom prst="roundRect">
            <a:avLst>
              <a:gd name="adj" fmla="val 11297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932688"/>
            <a:ext cx="7808976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View, originea este stânga-sus, x crește spre dreapta și y în jos.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46352"/>
            <a:ext cx="81381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joc folosim (col, row), cu indici de la zero.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004568"/>
            <a:ext cx="8138160" cy="417576"/>
          </a:xfrm>
          <a:prstGeom prst="roundRect">
            <a:avLst>
              <a:gd name="adj" fmla="val 10949"/>
            </a:avLst>
          </a:prstGeom>
          <a:solidFill>
            <a:srgbClr val="1C2B22"/>
          </a:solidFill>
          <a:ln w="12700">
            <a:solidFill>
              <a:srgbClr val="1C2B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" y="2096008"/>
            <a:ext cx="784555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head = new Cell(3, 2);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550160"/>
            <a:ext cx="81381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Capul este în coloana a patra, rândul al treilea.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008376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" y="3172968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3544" y="3008376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o tablă 10 × 10, indicii valizi sunt 0–9 pe fiecare axă.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Dimensiunea și încadrarea tablei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4425696"/>
            <a:ext cx="8138160" cy="420624"/>
          </a:xfrm>
          <a:prstGeom prst="roundRect">
            <a:avLst>
              <a:gd name="adj" fmla="val 13043"/>
            </a:avLst>
          </a:prstGeom>
          <a:solidFill>
            <a:srgbClr val="E8F3E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4498848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4425696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 300 × 200 px disponibili și 10 × 10 celule, cât este cellSize și cât ocupă tabla?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932688"/>
            <a:ext cx="8138160" cy="733552"/>
          </a:xfrm>
          <a:prstGeom prst="roundRect">
            <a:avLst>
              <a:gd name="adj" fmla="val 7479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" y="932688"/>
            <a:ext cx="7808976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onSizeChanged() este apelată când View-ul primește sau își schimbă dimensiunea. Aici calculăm geometria tablei.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1794256"/>
            <a:ext cx="8138160" cy="1011936"/>
          </a:xfrm>
          <a:prstGeom prst="roundRect">
            <a:avLst>
              <a:gd name="adj" fmla="val 4518"/>
            </a:avLst>
          </a:prstGeom>
          <a:solidFill>
            <a:srgbClr val="1C2B22"/>
          </a:solidFill>
          <a:ln w="12700">
            <a:solidFill>
              <a:srgbClr val="1C2B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" y="1885696"/>
            <a:ext cx="7845552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cellSize = Math.min(availableWidth / COLS,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availableHeight / ROWS);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boardWidth = COLS * cellSize;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boardHeight = ROWS * cellSize;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934208"/>
            <a:ext cx="8138160" cy="554736"/>
          </a:xfrm>
          <a:prstGeom prst="roundRect">
            <a:avLst>
              <a:gd name="adj" fmla="val 989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3147568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34208"/>
            <a:ext cx="7571232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Dimensiunile disponibile sunt float, după scăderea padding-ului. boardLeft și boardTop reprezintă originea tablei centrate.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Răspuns: Dimensiunea și încadrarea tablei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485648"/>
          </a:xfrm>
          <a:prstGeom prst="roundRect">
            <a:avLst>
              <a:gd name="adj" fmla="val 11297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932688"/>
            <a:ext cx="7808976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 300 × 200 px disponibili și 10 × 10 celule, cât este cellSize și cât ocupă tabla?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46352"/>
            <a:ext cx="8138160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cellSize = min(300 / 10, 200 / 10) = min(30, 20) = 20 px.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ocupă 10 × 20 = 200 px pe fiecare axă: 200 × 200 px.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orizontală rămân 100 px liberi, împărțiți egal: boardLeft = 50.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628392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2792984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3544" y="2628392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Alegem minimul ca celulele să fie pătrate și tabla să încapă.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Starea jocului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485648"/>
          </a:xfrm>
          <a:prstGeom prst="roundRect">
            <a:avLst>
              <a:gd name="adj" fmla="val 11297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932688"/>
            <a:ext cx="7808976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Starea descrie situația curentă: pozițiile șarpelui și obstacolelor.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546352"/>
            <a:ext cx="8138160" cy="615696"/>
          </a:xfrm>
          <a:prstGeom prst="roundRect">
            <a:avLst>
              <a:gd name="adj" fmla="val 7426"/>
            </a:avLst>
          </a:prstGeom>
          <a:solidFill>
            <a:srgbClr val="1C2B22"/>
          </a:solidFill>
          <a:ln w="12700">
            <a:solidFill>
              <a:srgbClr val="1C2B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" y="1637792"/>
            <a:ext cx="784555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List&lt;Cell&gt; snake = new ArrayList&lt;&gt;(Arrays.asList(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Cell(4, 4), new Cell(3, 4), new Cell(2, 4)));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290064"/>
            <a:ext cx="81381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păstrează col și row. GameState nu are nevoie de Canvas sau Paint.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748280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" y="2912872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23544" y="2748280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Folosim o listă modificabilă pentru a o continua cu add/remove la Lab 4.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Rolul metodei onDraw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4425696"/>
            <a:ext cx="8138160" cy="420624"/>
          </a:xfrm>
          <a:prstGeom prst="roundRect">
            <a:avLst>
              <a:gd name="adj" fmla="val 13043"/>
            </a:avLst>
          </a:prstGeom>
          <a:solidFill>
            <a:srgbClr val="E8F3E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4498848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4425696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Dacă sistemul redesenează de două ori aceeași stare, trebuie să avanseze șarpele?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932688"/>
            <a:ext cx="8138160" cy="485648"/>
          </a:xfrm>
          <a:prstGeom prst="roundRect">
            <a:avLst>
              <a:gd name="adj" fmla="val 11297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" y="932688"/>
            <a:ext cx="7808976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apelează onDraw() când View-ul trebuie desenat.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1546352"/>
            <a:ext cx="8138160" cy="1809641"/>
          </a:xfrm>
          <a:prstGeom prst="roundRect">
            <a:avLst>
              <a:gd name="adj" fmla="val 2846"/>
            </a:avLst>
          </a:prstGeom>
          <a:solidFill>
            <a:srgbClr val="1C2B22"/>
          </a:solidFill>
          <a:ln w="12700">
            <a:solidFill>
              <a:srgbClr val="1C2B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" y="1637792"/>
            <a:ext cx="7845552" cy="162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 void onDraw(Canvas canvas)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super.onDraw(canvas);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(cellSize &lt;= 0f) return;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drawGrid(canvas);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drawSnake(canvas);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drawObstacles(canvas);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484009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3648601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3484009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citește starea și o desenează. Nu mută șarpele și nu modifică scorul.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Răspuns: Rolul metodei onDraw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485648"/>
          </a:xfrm>
          <a:prstGeom prst="roundRect">
            <a:avLst>
              <a:gd name="adj" fmla="val 11297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932688"/>
            <a:ext cx="7808976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Dacă sistemul redesenează de două ori aceeași stare, trebuie să avanseze șarpele?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46352"/>
            <a:ext cx="8138160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onDraw() poate fi apelată de mai multe ori pentru aceeași stare.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Șarpele avansează doar când se schimbă starea jocului (de la Lab 4).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628392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2792984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3544" y="2628392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onDraw() afișează starea, nu o modifică.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Desenarea grilei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485648"/>
          </a:xfrm>
          <a:prstGeom prst="roundRect">
            <a:avLst>
              <a:gd name="adj" fmla="val 11297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932688"/>
            <a:ext cx="7808976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tablă cu COLS coloane are COLS + 1 margini verticale.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546352"/>
            <a:ext cx="8138160" cy="1006711"/>
          </a:xfrm>
          <a:prstGeom prst="roundRect">
            <a:avLst>
              <a:gd name="adj" fmla="val 3778"/>
            </a:avLst>
          </a:prstGeom>
          <a:solidFill>
            <a:srgbClr val="1C2B22"/>
          </a:solidFill>
          <a:ln w="12700">
            <a:solidFill>
              <a:srgbClr val="1C2B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" y="1637792"/>
            <a:ext cx="7845552" cy="823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col = 0; col &lt;= COLS; col++)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 x = Math.round(boardLeft + col * cellSize);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canvas.drawLine(x, top, x, bottom, gridPaint);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681079"/>
            <a:ext cx="8138160" cy="554736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" y="2894439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23544" y="2681079"/>
            <a:ext cx="7571232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și bottom sunt marginile de sus și de jos ale tablei. Math.round() evită coordonatele fracționare și stabilizează poziția liniilor. Pentru liniile orizontale iterăm rândurile și calculăm 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Două sisteme de coordonate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32688"/>
          <a:ext cx="8138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 b="1">
                          <a:solidFill>
                            <a:srgbClr val="24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Ecran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(col, row)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(x, y) în pixeli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poziție logică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poziție vizuală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Cell(2,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dreptunghiul desenat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502920" y="2300000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2464592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3544" y="2300000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Desenare: Cell → pixeli.   Touch: pixeli → Cell.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celulă la dreptunghi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4425696"/>
            <a:ext cx="8138160" cy="420624"/>
          </a:xfrm>
          <a:prstGeom prst="roundRect">
            <a:avLst>
              <a:gd name="adj" fmla="val 13043"/>
            </a:avLst>
          </a:prstGeom>
          <a:solidFill>
            <a:srgbClr val="E8F3E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4498848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4425696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boardLeft=20, boardTop=40 și cellSize=30, unde începe celula (2,1)?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932688"/>
            <a:ext cx="8138160" cy="485648"/>
          </a:xfrm>
          <a:prstGeom prst="roundRect">
            <a:avLst>
              <a:gd name="adj" fmla="val 11297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" y="932688"/>
            <a:ext cx="7808976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Transformăm coordonatele logice în coordonate locale ale View-ului.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1546352"/>
            <a:ext cx="8138160" cy="1011936"/>
          </a:xfrm>
          <a:prstGeom prst="roundRect">
            <a:avLst>
              <a:gd name="adj" fmla="val 4518"/>
            </a:avLst>
          </a:prstGeom>
          <a:solidFill>
            <a:srgbClr val="1C2B22"/>
          </a:solidFill>
          <a:ln w="12700">
            <a:solidFill>
              <a:srgbClr val="1C2B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" y="1637792"/>
            <a:ext cx="7845552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left = boardLeft + cell.col * cellSize;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top = boardTop + cell.row * cellSize;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canvas.drawRect(left, top,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 + cellSize, top + cellSize, paint);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686304"/>
            <a:ext cx="8138160" cy="554736"/>
          </a:xfrm>
          <a:prstGeom prst="roundRect">
            <a:avLst>
              <a:gd name="adj" fmla="val 989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2899664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686304"/>
            <a:ext cx="7571232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drawCell() aplică formula pentru obstacole. Prima variantă a șarpelui, drawSnakeSimple(), folosește aceeași formulă pentru fiecare segment.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Răspuns: De la celulă la dreptunghi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485648"/>
          </a:xfrm>
          <a:prstGeom prst="roundRect">
            <a:avLst>
              <a:gd name="adj" fmla="val 11297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932688"/>
            <a:ext cx="7808976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boardLeft=20, boardTop=40 și cellSize=30, unde începe celula (2,1)?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46352"/>
            <a:ext cx="8138160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= 20 + 2 × 30 = 80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= 40 + 1 × 30 = 70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 (2,1) începe la (80, 70) și se termină la (110, 100).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628392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2792984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3544" y="2628392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Coloana dă x, rândul dă y.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atingere la celulă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4425696"/>
            <a:ext cx="8138160" cy="420624"/>
          </a:xfrm>
          <a:prstGeom prst="roundRect">
            <a:avLst>
              <a:gd name="adj" fmla="val 13043"/>
            </a:avLst>
          </a:prstGeom>
          <a:solidFill>
            <a:srgbClr val="E8F3E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4498848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4425696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verificăm interiorul înainte de conversia la int?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932688"/>
            <a:ext cx="8138160" cy="485648"/>
          </a:xfrm>
          <a:prstGeom prst="roundRect">
            <a:avLst>
              <a:gd name="adj" fmla="val 11297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" y="932688"/>
            <a:ext cx="7808976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MotionEvent descrie atingerea; getX()/getY() sunt coordonate locale View-ului.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546352"/>
            <a:ext cx="8138160" cy="57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Verificăm mai întâi interiorul tablei, cu limita dreaptă și inferioară excluse. Apoi: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2252472"/>
            <a:ext cx="8138160" cy="615696"/>
          </a:xfrm>
          <a:prstGeom prst="roundRect">
            <a:avLst>
              <a:gd name="adj" fmla="val 7426"/>
            </a:avLst>
          </a:prstGeom>
          <a:solidFill>
            <a:srgbClr val="1C2B22"/>
          </a:solidFill>
          <a:ln w="12700">
            <a:solidFill>
              <a:srgbClr val="1C2B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" y="2343912"/>
            <a:ext cx="784555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col = (int) ((x - boardLeft) / cellSize);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row = (int) ((y - boardTop) / cellSize);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996184"/>
            <a:ext cx="81381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originea (20,40), celula de 30 px și atingerea (95,85), rezultă celula (2,1).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3454400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" y="3618992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3544" y="3454400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cellFromTouch() întoarce null în afara tablei.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Răspuns: De la atingere la celulă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485648"/>
          </a:xfrm>
          <a:prstGeom prst="roundRect">
            <a:avLst>
              <a:gd name="adj" fmla="val 11297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932688"/>
            <a:ext cx="7808976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verificăm interiorul înainte de conversia la int?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46352"/>
            <a:ext cx="8138160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Conversia la int taie zecimalele spre zero.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atingere puțin în stânga tablei dă −0.5, iar (int) −0.5 = 0, deci ar fi acceptată greșit coloana 0.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atingere exact pe marginea dreaptă ar da col = COLS, în afara tablei.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628392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2792984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3544" y="2628392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Întâi verificăm că atingerea e în tablă, apoi calculăm celula.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Integrarea touch-ului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733552"/>
          </a:xfrm>
          <a:prstGeom prst="roundRect">
            <a:avLst>
              <a:gd name="adj" fmla="val 7479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932688"/>
            <a:ext cx="7808976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onTouchEvent() primește evenimentele gestului. În BoardView tratăm ACTION_DOWN, ACTION_UP și ACTION_CANCEL.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794256"/>
            <a:ext cx="8138160" cy="1418626"/>
          </a:xfrm>
          <a:prstGeom prst="roundRect">
            <a:avLst>
              <a:gd name="adj" fmla="val 4518"/>
            </a:avLst>
          </a:prstGeom>
          <a:solidFill>
            <a:srgbClr val="1C2B22"/>
          </a:solidFill>
          <a:ln w="12700">
            <a:solidFill>
              <a:srgbClr val="1C2B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" y="1885696"/>
            <a:ext cx="7845552" cy="1235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cell = cellFromTouch(event.getX(), event.getY());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(cell != null)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Log.d("Lab03", "col=" + cell.col + ", row=" + cell.row);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Log.d("Lab03", "atingere in afara tablei");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340898"/>
            <a:ext cx="8138160" cy="57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ACTION_DOWN aflăm celula, iar la ACTION_UP apelăm performClick(), pe care BoardView o suprascrie (pentru accesibilitate). return true arată că View-ul preia evenimentul.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4047018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" y="4211610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23544" y="4047018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Atingerea identifică o celulă; nu mișcă încă șarpele.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Alternativa cu Views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485648"/>
          </a:xfrm>
          <a:prstGeom prst="roundRect">
            <a:avLst>
              <a:gd name="adj" fmla="val 11297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932688"/>
            <a:ext cx="7808976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tablă mică poate fi construită din celule View, de exemplu într-un GridLayout.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46352"/>
            <a:ext cx="8138160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desenăm piesele și calculăm celula atinsă.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Views: fiecare celulă are aspect și listener propriu.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și Tic-Tac-Toe pot folosi Views. Snake și Pong pot folosi Canvas.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628392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2792984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3544" y="2628392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Imaginile pot fi folosite în ambele variante.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Procesul aplicației și Zygote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4425696"/>
            <a:ext cx="8138160" cy="420624"/>
          </a:xfrm>
          <a:prstGeom prst="roundRect">
            <a:avLst>
              <a:gd name="adj" fmla="val 13043"/>
            </a:avLst>
          </a:prstGeom>
          <a:solidFill>
            <a:srgbClr val="E8F3E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4498848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4425696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Meniul și jocul afișează același PID. Este o problemă?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932688"/>
            <a:ext cx="8138160" cy="733552"/>
          </a:xfrm>
          <a:prstGeom prst="roundRect">
            <a:avLst>
              <a:gd name="adj" fmla="val 7479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" y="932688"/>
            <a:ext cx="7808976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Procesul are memorie și resurse proprii. În fluxul obișnuit, Android folosește Zygote pentru crearea proceselor aplicațiilor.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794256"/>
            <a:ext cx="81381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gestionează procesele și firele de execuție.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2252472"/>
            <a:ext cx="8138160" cy="417576"/>
          </a:xfrm>
          <a:prstGeom prst="roundRect">
            <a:avLst>
              <a:gd name="adj" fmla="val 10949"/>
            </a:avLst>
          </a:prstGeom>
          <a:solidFill>
            <a:srgbClr val="1C2B22"/>
          </a:solidFill>
          <a:ln w="12700">
            <a:solidFill>
              <a:srgbClr val="1C2B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" y="2343912"/>
            <a:ext cx="784555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Log.d(TAG, getClass().getSimpleName() + " PID=" + android.os.Process.myPid());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798064"/>
            <a:ext cx="81381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terminal: adb shell pidof NUME_PACHET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3256280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" y="3420872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3544" y="3256280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Înlocuim NUME_PACHET cu identificatorul real. PID-ul identifică procesul; nu este UID-ul aplicației.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Răspuns: Procesul aplicației și Zygote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485648"/>
          </a:xfrm>
          <a:prstGeom prst="roundRect">
            <a:avLst>
              <a:gd name="adj" fmla="val 11297"/>
            </a:avLst>
          </a:prstGeom>
          <a:solidFill>
            <a:srgbClr val="F2F7F4"/>
          </a:solidFill>
          <a:ln w="12700">
            <a:solidFill>
              <a:srgbClr val="F2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932688"/>
            <a:ext cx="7808976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Meniul și jocul afișează același PID. Este o problemă?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46352"/>
            <a:ext cx="8138160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Activitățile aplicației rulează, de obicei, în același proces.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Logcat: MainActivity PID=12345 și GameActivity PID=12345.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628392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2792984"/>
            <a:ext cx="128016" cy="12801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3544" y="2628392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activitate nu este un proces. PID-ul se schimbă doar dacă procesul aplicației este oprit și pornit din nou.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37744"/>
            <a:ext cx="7607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Verificări și diagnostic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32688"/>
          <a:ext cx="8138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Încadrare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complet vizibilă, celule pătrate, margini de sistem respectate, inclusiv după rotație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Atingere cunoscută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alegem celula (2,1), atingem centrul și comparăm Logcat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Poziție inversată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verificăm col versus row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Atingere deplasată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verificăm scăderea boardLeft/boardTop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Celulă în afara tablei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verificăm 0 ≤ col &lt; COLS și 0 ≤ row &lt; ROWS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1460</Words>
  <Application>Microsoft Office PowerPoint</Application>
  <PresentationFormat>On-screen Show (16:9)</PresentationFormat>
  <Paragraphs>196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Calibri</vt:lpstr>
      <vt:lpstr>Cambria</vt:lpstr>
      <vt:lpstr>Courier New</vt:lpstr>
      <vt:lpstr>Office Theme</vt:lpstr>
      <vt:lpstr>Tabla Snake</vt:lpstr>
      <vt:lpstr>Legătura cu cursul</vt:lpstr>
      <vt:lpstr>Un View personalizat</vt:lpstr>
      <vt:lpstr>Cum se leagă fișierele</vt:lpstr>
      <vt:lpstr>Canvas și Paint</vt:lpstr>
      <vt:lpstr>Răspuns: Canvas și Paint</vt:lpstr>
      <vt:lpstr>Coordonatele tablei</vt:lpstr>
      <vt:lpstr>Dimensiunea și încadrarea tablei</vt:lpstr>
      <vt:lpstr>Răspuns: Dimensiunea și încadrarea tablei</vt:lpstr>
      <vt:lpstr>Starea jocului</vt:lpstr>
      <vt:lpstr>Rolul metodei onDraw</vt:lpstr>
      <vt:lpstr>Răspuns: Rolul metodei onDraw</vt:lpstr>
      <vt:lpstr>Desenarea grilei</vt:lpstr>
      <vt:lpstr>Două sisteme de coordonate</vt:lpstr>
      <vt:lpstr>De la celulă la dreptunghi</vt:lpstr>
      <vt:lpstr>Răspuns: De la celulă la dreptunghi</vt:lpstr>
      <vt:lpstr>De la atingere la celulă</vt:lpstr>
      <vt:lpstr>Răspuns: De la atingere la celulă</vt:lpstr>
      <vt:lpstr>Integrarea touch-ului</vt:lpstr>
      <vt:lpstr>Alternativa cu Views</vt:lpstr>
      <vt:lpstr>Procesul aplicației și Zygote</vt:lpstr>
      <vt:lpstr>Răspuns: Procesul aplicației și Zygote</vt:lpstr>
      <vt:lpstr>Verificări și diagnostic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Laboratorul 3 - Tabla Snake</dc:title>
  <dc:creator>Maria-Alexandra Luca</dc:creator>
  <cp:lastModifiedBy>Maria-Alexandra Luca</cp:lastModifiedBy>
  <cp:revision>14</cp:revision>
  <dcterms:created xsi:type="dcterms:W3CDTF">2026-09-21T06:17:13Z</dcterms:created>
  <dcterms:modified xsi:type="dcterms:W3CDTF">2026-10-22T08:41:00Z</dcterms:modified>
</cp:coreProperties>
</file>