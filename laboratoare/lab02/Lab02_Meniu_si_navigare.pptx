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8d46a4478ed467e" Type="http://schemas.openxmlformats.org/officeDocument/2006/relationships/officeDocument" Target="ppt/presentation.xml"/><Relationship Id="R3893ec87569f4924" Type="http://schemas.openxmlformats.org/package/2006/relationships/metadata/core-properties" Target="docProps/core.xml"/><Relationship Id="R39968988cd22416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f3af8f975640d9"/>
  </p:sldMasterIdLst>
  <p:notesMasterIdLst>
    <p:notesMasterId xmlns:r="http://schemas.openxmlformats.org/officeDocument/2006/relationships" r:id="R2896bfdf7851458b"/>
  </p:notesMasterIdLst>
  <p:sldIdLst>
    <p:sldId xmlns:r="http://schemas.openxmlformats.org/officeDocument/2006/relationships" id="256" r:id="R43ab156ad9644f11"/>
    <p:sldId xmlns:r="http://schemas.openxmlformats.org/officeDocument/2006/relationships" id="257" r:id="Rb263157ca89b4c31"/>
    <p:sldId xmlns:r="http://schemas.openxmlformats.org/officeDocument/2006/relationships" id="258" r:id="Rea5558f2989845d9"/>
    <p:sldId xmlns:r="http://schemas.openxmlformats.org/officeDocument/2006/relationships" id="259" r:id="R9bf0156989e84bc7"/>
    <p:sldId xmlns:r="http://schemas.openxmlformats.org/officeDocument/2006/relationships" id="260" r:id="R93922af98c2d4799"/>
    <p:sldId xmlns:r="http://schemas.openxmlformats.org/officeDocument/2006/relationships" id="261" r:id="R44f7d50c02f245ab"/>
    <p:sldId xmlns:r="http://schemas.openxmlformats.org/officeDocument/2006/relationships" id="262" r:id="R5aad70fcc13d48c5"/>
    <p:sldId xmlns:r="http://schemas.openxmlformats.org/officeDocument/2006/relationships" id="263" r:id="R42eccf7b35c54f76"/>
    <p:sldId xmlns:r="http://schemas.openxmlformats.org/officeDocument/2006/relationships" id="264" r:id="R1bf311ed8f8f413d"/>
    <p:sldId xmlns:r="http://schemas.openxmlformats.org/officeDocument/2006/relationships" id="265" r:id="R68839fe2df254547"/>
    <p:sldId xmlns:r="http://schemas.openxmlformats.org/officeDocument/2006/relationships" id="266" r:id="R40352238352242ec"/>
    <p:sldId xmlns:r="http://schemas.openxmlformats.org/officeDocument/2006/relationships" id="267" r:id="Rfa01a8c4109047ef"/>
    <p:sldId xmlns:r="http://schemas.openxmlformats.org/officeDocument/2006/relationships" id="268" r:id="R40dfa972678d4e28"/>
    <p:sldId xmlns:r="http://schemas.openxmlformats.org/officeDocument/2006/relationships" id="269" r:id="Re263bc117639414c"/>
    <p:sldId xmlns:r="http://schemas.openxmlformats.org/officeDocument/2006/relationships" id="270" r:id="R7f5fd4f8a0a14448"/>
    <p:sldId xmlns:r="http://schemas.openxmlformats.org/officeDocument/2006/relationships" id="271" r:id="R6056f9863cd0409b"/>
    <p:sldId xmlns:r="http://schemas.openxmlformats.org/officeDocument/2006/relationships" id="272" r:id="Rc33b70ee82664fac"/>
    <p:sldId xmlns:r="http://schemas.openxmlformats.org/officeDocument/2006/relationships" id="273" r:id="R8674194ed25a4a99"/>
    <p:sldId xmlns:r="http://schemas.openxmlformats.org/officeDocument/2006/relationships" id="274" r:id="Ra1d9488bc2e84c59"/>
    <p:sldId xmlns:r="http://schemas.openxmlformats.org/officeDocument/2006/relationships" id="275" r:id="R862d84d8102c4b96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d9ecb35bfaa4e64" Type="http://schemas.openxmlformats.org/officeDocument/2006/relationships/tableStyles" Target="tableStyles.xml"/><Relationship Id="R1bf311ed8f8f413d" Type="http://schemas.openxmlformats.org/officeDocument/2006/relationships/slide" Target="slides/slide9.xml"/><Relationship Id="R2896bfdf7851458b" Type="http://schemas.openxmlformats.org/officeDocument/2006/relationships/notesMaster" Target="notesMasters/notesMaster1.xml"/><Relationship Id="R2df3af8f975640d9" Type="http://schemas.openxmlformats.org/officeDocument/2006/relationships/slideMaster" Target="slideMasters/slideMaster1.xml"/><Relationship Id="R40352238352242ec" Type="http://schemas.openxmlformats.org/officeDocument/2006/relationships/slide" Target="slides/slide11.xml"/><Relationship Id="R40dfa972678d4e28" Type="http://schemas.openxmlformats.org/officeDocument/2006/relationships/slide" Target="slides/slide13.xml"/><Relationship Id="R42eccf7b35c54f76" Type="http://schemas.openxmlformats.org/officeDocument/2006/relationships/slide" Target="slides/slide8.xml"/><Relationship Id="R43ab156ad9644f11" Type="http://schemas.openxmlformats.org/officeDocument/2006/relationships/slide" Target="slides/slide1.xml"/><Relationship Id="R44f7d50c02f245ab" Type="http://schemas.openxmlformats.org/officeDocument/2006/relationships/slide" Target="slides/slide6.xml"/><Relationship Id="R4a5602f36b6848e2" Type="http://schemas.openxmlformats.org/officeDocument/2006/relationships/viewProps" Target="viewProps.xml"/><Relationship Id="R5aad70fcc13d48c5" Type="http://schemas.openxmlformats.org/officeDocument/2006/relationships/slide" Target="slides/slide7.xml"/><Relationship Id="R6056f9863cd0409b" Type="http://schemas.openxmlformats.org/officeDocument/2006/relationships/slide" Target="slides/slide16.xml"/><Relationship Id="R68839fe2df254547" Type="http://schemas.openxmlformats.org/officeDocument/2006/relationships/slide" Target="slides/slide10.xml"/><Relationship Id="R690e06d496c04c8b" Type="http://schemas.openxmlformats.org/officeDocument/2006/relationships/theme" Target="theme/theme1.xml"/><Relationship Id="R71be006ddbe94c10" Type="http://schemas.openxmlformats.org/officeDocument/2006/relationships/presProps" Target="presProps.xml"/><Relationship Id="R7f5fd4f8a0a14448" Type="http://schemas.openxmlformats.org/officeDocument/2006/relationships/slide" Target="slides/slide15.xml"/><Relationship Id="R862d84d8102c4b96" Type="http://schemas.openxmlformats.org/officeDocument/2006/relationships/slide" Target="slides/slide20.xml"/><Relationship Id="R8674194ed25a4a99" Type="http://schemas.openxmlformats.org/officeDocument/2006/relationships/slide" Target="slides/slide18.xml"/><Relationship Id="R93922af98c2d4799" Type="http://schemas.openxmlformats.org/officeDocument/2006/relationships/slide" Target="slides/slide5.xml"/><Relationship Id="R9bf0156989e84bc7" Type="http://schemas.openxmlformats.org/officeDocument/2006/relationships/slide" Target="slides/slide4.xml"/><Relationship Id="Ra1d9488bc2e84c59" Type="http://schemas.openxmlformats.org/officeDocument/2006/relationships/slide" Target="slides/slide19.xml"/><Relationship Id="Rb263157ca89b4c31" Type="http://schemas.openxmlformats.org/officeDocument/2006/relationships/slide" Target="slides/slide2.xml"/><Relationship Id="Rc33b70ee82664fac" Type="http://schemas.openxmlformats.org/officeDocument/2006/relationships/slide" Target="slides/slide17.xml"/><Relationship Id="Re263bc117639414c" Type="http://schemas.openxmlformats.org/officeDocument/2006/relationships/slide" Target="slides/slide14.xml"/><Relationship Id="Rea5558f2989845d9" Type="http://schemas.openxmlformats.org/officeDocument/2006/relationships/slide" Target="slides/slide3.xml"/><Relationship Id="Rfa01a8c4109047ef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a7feeda8868a493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d2b90b5fa54481b" Type="http://schemas.openxmlformats.org/officeDocument/2006/relationships/notesMaster" Target="../notesMasters/notesMaster1.xml"/><Relationship Id="Rec919b7a587f469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66578fa1dc047b6" Type="http://schemas.openxmlformats.org/officeDocument/2006/relationships/slide" Target="../slides/slide2.xml"/><Relationship Id="Rbdf575c4ca724cd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31a7874b4514b9b" Type="http://schemas.openxmlformats.org/officeDocument/2006/relationships/slide" Target="../slides/slide3.xml"/><Relationship Id="Rb02709fb1d184304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dafd7265c2944fd" Type="http://schemas.openxmlformats.org/officeDocument/2006/relationships/slide" Target="../slides/slide4.xml"/><Relationship Id="Rfc1e9cf8aa3d4e9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52f0aa5ce2e4740" Type="http://schemas.openxmlformats.org/officeDocument/2006/relationships/notesMaster" Target="../notesMasters/notesMaster1.xml"/><Relationship Id="Rec5a07f6eaed4fe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d301eba662ef40ff" Type="http://schemas.openxmlformats.org/officeDocument/2006/relationships/slide" Target="../slides/slide6.xml"/><Relationship Id="Re5af9a3682c447d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59409c749c94466" Type="http://schemas.openxmlformats.org/officeDocument/2006/relationships/notesMaster" Target="../notesMasters/notesMaster1.xml"/><Relationship Id="Rabd882807fa94715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b740fea60ac46a6" Type="http://schemas.openxmlformats.org/officeDocument/2006/relationships/slide" Target="../slides/slide8.xml"/><Relationship Id="R84c5c2931ceb4156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befe62df3f484389" Type="http://schemas.openxmlformats.org/officeDocument/2006/relationships/notesMaster" Target="../notesMasters/notesMaster1.xml"/><Relationship Id="Rd6dd32ac5a994e3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b1b828436c4d77" Type="http://schemas.openxmlformats.org/officeDocument/2006/relationships/notesMaster" Target="../notesMasters/notesMaster1.xml"/><Relationship Id="R6e1482510c854bdf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9f85ecbeb28e40a7" Type="http://schemas.openxmlformats.org/officeDocument/2006/relationships/slide" Target="../slides/slide11.xml"/><Relationship Id="Ra644863e3bcd453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2d472479ec6e4f2b" Type="http://schemas.openxmlformats.org/officeDocument/2006/relationships/notesMaster" Target="../notesMasters/notesMaster1.xml"/><Relationship Id="R38d617589c604606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7cc6fd2d43a43ac" Type="http://schemas.openxmlformats.org/officeDocument/2006/relationships/slide" Target="../slides/slide13.xml"/><Relationship Id="Rc3d06eaa30754d78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58bd9d673004dbc" Type="http://schemas.openxmlformats.org/officeDocument/2006/relationships/slide" Target="../slides/slide14.xml"/><Relationship Id="R9d383b732eca4cee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913b091887f4259" Type="http://schemas.openxmlformats.org/officeDocument/2006/relationships/notesMaster" Target="../notesMasters/notesMaster1.xml"/><Relationship Id="R5eb8e8aa165145c6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d011842c3fb74700" Type="http://schemas.openxmlformats.org/officeDocument/2006/relationships/notesMaster" Target="../notesMasters/notesMaster1.xml"/><Relationship Id="Rdd15669141424c3d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55764640258b45ad" Type="http://schemas.openxmlformats.org/officeDocument/2006/relationships/slide" Target="../slides/slide17.xml"/><Relationship Id="R5a3b78bfee8b41ba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320233ad3b3c4908" Type="http://schemas.openxmlformats.org/officeDocument/2006/relationships/notesMaster" Target="../notesMasters/notesMaster1.xml"/><Relationship Id="Raf5b86ecb1174ac3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18d9b24141854eb0" Type="http://schemas.openxmlformats.org/officeDocument/2006/relationships/slide" Target="../slides/slide19.xml"/><Relationship Id="Re296efc0128e4be9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032ee6bd3634268" Type="http://schemas.openxmlformats.org/officeDocument/2006/relationships/notesMaster" Target="../notesMasters/notesMaster1.xml"/><Relationship Id="Rf06fc116f16242a7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276bfdd7c5d4fe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dbee02e0b2c4c61" Type="http://schemas.openxmlformats.org/officeDocument/2006/relationships/slideLayout" Target="../slideLayouts/slideLayout1.xml"/><Relationship Id="Ra13673db567f468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bee02e0b2c4c6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8eea6d9768c450b" Type="http://schemas.openxmlformats.org/officeDocument/2006/relationships/notesSlide" Target="../notesSlides/notesSlide1.xml"/><Relationship Id="R784ecfc2728c4d5e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59643807cd44748" Type="http://schemas.openxmlformats.org/officeDocument/2006/relationships/notesSlide" Target="../notesSlides/notesSlide2.xml"/><Relationship Id="Rd0fa8217a7bb4d46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4aec1b97baf4dfa" Type="http://schemas.openxmlformats.org/officeDocument/2006/relationships/notesSlide" Target="../notesSlides/notesSlide3.xml"/><Relationship Id="Rd33e71a6aafa4a6e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c6b6c8edc7c4630" Type="http://schemas.openxmlformats.org/officeDocument/2006/relationships/slideLayout" Target="../slideLayouts/slideLayout1.xml"/><Relationship Id="Rfd884752bc4541fb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e189cfa9ef14e38" Type="http://schemas.openxmlformats.org/officeDocument/2006/relationships/slideLayout" Target="../slideLayouts/slideLayout1.xml"/><Relationship Id="R8ebd25931951495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d08d2a160c164c99" Type="http://schemas.openxmlformats.org/officeDocument/2006/relationships/notesSlide" Target="../notesSlides/notesSlide6.xml"/><Relationship Id="Rfffbd1d0d9a2435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c62aa3c9f7974198" Type="http://schemas.openxmlformats.org/officeDocument/2006/relationships/slideLayout" Target="../slideLayouts/slideLayout1.xml"/><Relationship Id="Rfdb55e7b5a25439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12db33a38fe45dd" Type="http://schemas.openxmlformats.org/officeDocument/2006/relationships/notesSlide" Target="../notesSlides/notesSlide8.xml"/><Relationship Id="Rd7c82faadf84450c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d07011e536744580" Type="http://schemas.openxmlformats.org/officeDocument/2006/relationships/notesSlide" Target="../notesSlides/notesSlide9.xml"/><Relationship Id="Re548a097cb03487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386a2c8d9c94ce8" Type="http://schemas.openxmlformats.org/officeDocument/2006/relationships/slideLayout" Target="../slideLayouts/slideLayout1.xml"/><Relationship Id="R8562824b3f11462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d71597824494700" Type="http://schemas.openxmlformats.org/officeDocument/2006/relationships/notesSlide" Target="../notesSlides/notesSlide11.xml"/><Relationship Id="Rb548d5e12b21462d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2ed8a9228754a64" Type="http://schemas.openxmlformats.org/officeDocument/2006/relationships/slideLayout" Target="../slideLayouts/slideLayout1.xml"/><Relationship Id="R7ac1bd66dd87410c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5385b74af0794f63" Type="http://schemas.openxmlformats.org/officeDocument/2006/relationships/notesSlide" Target="../notesSlides/notesSlide13.xml"/><Relationship Id="Rea5dea97b61846a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4a993c57de0415c" Type="http://schemas.openxmlformats.org/officeDocument/2006/relationships/slideLayout" Target="../slideLayouts/slideLayout1.xml"/><Relationship Id="Rba47eaa1fa6e4a0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44eddab935b34f01" Type="http://schemas.openxmlformats.org/officeDocument/2006/relationships/notesSlide" Target="../notesSlides/notesSlide15.xml"/><Relationship Id="R6cbc462812814537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fcd9551f746454e" Type="http://schemas.openxmlformats.org/officeDocument/2006/relationships/notesSlide" Target="../notesSlides/notesSlide16.xml"/><Relationship Id="R7e6fd2169dda4435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ad4e6ee0d57348e1" Type="http://schemas.openxmlformats.org/officeDocument/2006/relationships/notesSlide" Target="../notesSlides/notesSlide17.xml"/><Relationship Id="Rbdd51dc926ad48d3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2fb5b40ffba940cd" Type="http://schemas.openxmlformats.org/officeDocument/2006/relationships/notesSlide" Target="../notesSlides/notesSlide18.xml"/><Relationship Id="R6ef19c0316b24aef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31c3f313862c4071" Type="http://schemas.openxmlformats.org/officeDocument/2006/relationships/notesSlide" Target="../notesSlides/notesSlide19.xml"/><Relationship Id="Rffa86f4f39f543fc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2f95f7b683ed4c46" Type="http://schemas.openxmlformats.org/officeDocument/2006/relationships/notesSlide" Target="../notesSlides/notesSlide20.xml"/><Relationship Id="Rc5d6666649dc47a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CDEFD49-82B8-442A-92A0-463AED2D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2C35BB-FB35-467F-A3C8-88DA0C0D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"/>
            <a:ext cx="8138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52B788"/>
                </a:solidFill>
                <a:latin typeface="Calibri"/>
                <a:ea typeface="Calibri"/>
                <a:cs typeface="Calibri"/>
              </a:rPr>
              <a:t>LABORATORUL 2</a:t>
            </a:r>
            <a:endParaRPr sz="1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959ADF-BDA2-4807-843A-09C7EF80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8680"/>
            <a:ext cx="79552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Meniu și navigare</a:t>
            </a:r>
            <a:endParaRPr sz="3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AF5F9CA-2B46-458B-97F2-09AE0C32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777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FE8DA"/>
                </a:solidFill>
                <a:latin typeface="Calibri"/>
                <a:ea typeface="Calibri"/>
                <a:cs typeface="Calibri"/>
              </a:rPr>
              <a:t>Construim meniul Snake și deschidem ecranul jocului.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790447B-352B-408C-9E5A-830D4C37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77724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final identificăm fișierele proiectului, definim un layout XML, tratăm apăsarea unui buton și urmărim lifecycle-ul în Logcat.</a:t>
            </a:r>
            <a:endParaRPr sz="1400"/>
          </a:p>
          <a:p xmlns:a="http://schemas.openxmlformats.org/drawingml/2006/main"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Astăzi realizăm două ecrane. Tabla și mișcarea vin în laboratoarele următoare.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733D1C-FD63-4261-B2BE-5BCC4947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344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FB5A1"/>
                </a:solidFill>
                <a:latin typeface="Calibri"/>
                <a:ea typeface="Calibri"/>
                <a:cs typeface="Calibri"/>
              </a:rPr>
              <a:t>Sisteme de Operare — Android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33288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21E187-89BA-4E17-AC1D-274EF63D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5F76FA-883B-460B-8FE5-18A53608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B94B84-AD89-4F47-8AF2-9929BEC3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Legătura cu cursul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CF36505-8ECC-43D9-97B3-D143CB04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733552"/>
          </a:xfrm>
          <a:prstGeom xmlns:a="http://schemas.openxmlformats.org/drawingml/2006/main" prst="roundRect">
            <a:avLst>
              <a:gd name="adj" fmla="val 7479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12700">
            <a:solidFill>
              <a:srgbClr val="F2F7F4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7C5FBD-8855-477E-871F-BFBC253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32688"/>
            <a:ext cx="7808976" cy="733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Cursul 2: arhitectura Android (p. 4–8), Activity și Intent (p. 10–14), View și XML (p. 16–18), lifecycle (p. 11–12 și 20–21).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38AF223-291C-43CF-AF66-FB112CEF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94256"/>
            <a:ext cx="8138160" cy="578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În laborator aplicăm aceste concepte într-un meniu cu navigare. Folosim Java pentru comportament și XML pentru interfață.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63272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BEC8315-4E84-4A04-BBBF-18E718E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27519F-1F5E-42D3-BD1F-7279C07D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F321D28-F5C5-418D-9351-DB5E679E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Aplicația noastră în Android</a:t>
            </a:r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7EC94EF-D175-4A4E-A980-F71752BC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Schemă simplificată:</a:t>
            </a:r>
            <a:endParaRPr sz="1600"/>
          </a:p>
        </p:txBody>
      </p:sp>
      <p:graphicFrame>
        <p:nvGraphicFramePr>
          <p:cNvPr id="10" name="Table 0">
            <a:extLst xmlns:a="http://schemas.openxmlformats.org/drawingml/2006/main">
              <a:ext uri="{FF2B5EF4-FFF2-40B4-BE49-F238E27FC236}">
                <a16:creationId xmlns:a16="http://schemas.microsoft.com/office/drawing/2014/main" id="{DC9DD5E0-C926-44F6-BA65-E4C9A7B00B6E}"/>
              </a:ext>
            </a:extLst>
          </p:cNvPr>
          <p:cNvGraphicFramePr/>
          <p:nvPr/>
        </p:nvGraphicFramePr>
        <p:xfrm>
          <a:off xmlns:a="http://schemas.openxmlformats.org/drawingml/2006/main" x="502920" y="1390904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Aplicația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meniul și ecranul Snake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Framework Android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API-uri precum Activity, Intent și View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ART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execută codul aplicației, scris în Java și transformat la build în DEX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Bibliotecile native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oferă funcționalități implementate în C/C++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Nucleul Linux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gestionează procese, memorie și drivere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1C296AE-85BE-48A0-B058-63405335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0700"/>
            <a:ext cx="8138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332"/>
          </a:solidFill>
          <a:ln xmlns:a="http://schemas.openxmlformats.org/drawingml/2006/main" w="12700">
            <a:solidFill>
              <a:srgbClr val="1B4332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190B7E5-03F5-4002-B4E9-F0BC6AE4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22529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839AE7-A840-44C4-8EF7-3118F6CF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060700"/>
            <a:ext cx="7571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Straturile platformei nu sunt directoarele proiectului nostru.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65283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F5F033-BBB8-46AE-AB66-FA31523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0D89C27-4E43-4C7C-A0F0-64C750A2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70349E2-92BE-4FBA-B607-2EADAC57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Fișierele proiectului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21B5A4-0FE3-47BF-A7A6-DD0B96AB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25696"/>
            <a:ext cx="813816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3EC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983114D-E6E4-49B1-91BD-868A116C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0D7BB2C-88D8-4D9F-BB81-9310CE80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5C4C7B-A5FD-48BC-BA1F-C04AFA04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425696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Vrem să schimbăm textul butonului și ce se întâmplă la apăsare. În ce două locuri lucrăm?</a:t>
            </a:r>
            <a:endParaRPr sz="1250"/>
          </a:p>
        </p:txBody>
      </p:sp>
      <p:graphicFrame>
        <p:nvGraphicFramePr>
          <p:cNvPr id="9" name="Table 0">
            <a:extLst xmlns:a="http://schemas.openxmlformats.org/drawingml/2006/main">
              <a:ext uri="{FF2B5EF4-FFF2-40B4-BE49-F238E27FC236}">
                <a16:creationId xmlns:a16="http://schemas.microsoft.com/office/drawing/2014/main" id="{954C6361-F153-4C52-B554-9F59B1135787}"/>
              </a:ext>
            </a:extLst>
          </p:cNvPr>
          <p:cNvGraphicFramePr/>
          <p:nvPr/>
        </p:nvGraphicFramePr>
        <p:xfrm>
          <a:off xmlns:a="http://schemas.openxmlformats.org/drawingml/2006/main" x="502920" y="932688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app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modulul aplicației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java/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clasele Java, în vizualizarea Android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res/layout/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interfețele XML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res/values/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texte, culori și alte valori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res/drawable/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imagini și forme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AndroidManifest.xml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componente și permisiuni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Fișierele Gradle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configurarea build-ului și dependențele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481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84800-2CDA-403A-A452-8412DF74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59A"/>
          </a:solidFill>
          <a:ln xmlns:a="http://schemas.openxmlformats.org/drawingml/2006/main" w="0">
            <a:solidFill>
              <a:srgbClr val="63D59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2A512-4457-4206-9941-43AAF44D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B4D3E"/>
                </a:solidFill>
              </a:defRPr>
            </a:pPr>
            <a:r>
              <a:rPr sz="1125" b="1">
                <a:solidFill>
                  <a:srgbClr val="1B4D3E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AC8B7-94DB-426E-A454-637A0D69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B4D3E"/>
                </a:solidFill>
              </a:defRPr>
            </a:pPr>
            <a:r>
              <a:rPr sz="1950" b="1">
                <a:solidFill>
                  <a:srgbClr val="1B4D3E"/>
                </a:solidFill>
              </a:rPr>
              <a:t>Răspuns: unde lucrăm?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CABA7-5CF0-4474-8712-B9E6E3BF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90600"/>
            <a:ext cx="813816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FF7F2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2C605-28C3-444E-BEB0-4CF4477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B4D3E"/>
                </a:solidFill>
              </a:defRPr>
            </a:pPr>
            <a:r>
              <a:rPr sz="975" b="1">
                <a:solidFill>
                  <a:srgbClr val="1B4D3E"/>
                </a:solidFill>
              </a:rPr>
              <a:t>ÎNTREBAREA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E5C54-A4ED-417E-8BD0-7E7CFB16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77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0332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0332C"/>
                </a:solidFill>
              </a:defRPr>
            </a:pPr>
            <a:r>
              <a:rPr sz="1500" b="1">
                <a:solidFill>
                  <a:srgbClr val="20332C"/>
                </a:solidFill>
              </a:rPr>
              <a:t>Unde schimbăm textul butonului și comportamentul la apăsare?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83E68-FBD1-4764-82DE-C6CC7B64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24100"/>
            <a:ext cx="813816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1B4D3E"/>
          </a:solidFill>
          <a:ln xmlns:a="http://schemas.openxmlformats.org/drawingml/2006/main" w="0">
            <a:solidFill>
              <a:srgbClr val="1B4D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E6DA8-BDFA-478A-9F99-061ABC69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3D59A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3D59A"/>
                </a:solidFill>
              </a:defRPr>
            </a:pPr>
            <a:r>
              <a:rPr sz="975" b="1">
                <a:solidFill>
                  <a:srgbClr val="63D59A"/>
                </a:solidFill>
              </a:rPr>
              <a:t>RĂSPUNS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C2BDB-6BCA-4CFC-ACF8-5D8AA0DF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0000"/>
            <a:ext cx="345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Textul: în strings.xml.</a:t>
            </a:r>
          </a:p>
          <a:p xmlns:a="http://schemas.openxmlformats.org/drawingml/2006/main">
            <a:r>
              <a:rPr sz="1300" b="1">
                <a:solidFill>
                  <a:srgbClr val="FFFFFF"/>
                </a:solidFill>
              </a:rPr>
              <a:t>Comportamentul: în listener-ul din clasa Java.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16D77-488F-459E-B1FB-0B818325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00500"/>
            <a:ext cx="813816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2E6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28C8B-4788-4C44-B574-107011C8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B4D3E"/>
                </a:solidFill>
              </a:defRPr>
            </a:pPr>
            <a:r>
              <a:rPr sz="1200">
                <a:solidFill>
                  <a:srgbClr val="1B4D3E"/>
                </a:solidFill>
              </a:rPr>
              <a:t>XML descrie interfața, iar Java descrie comportamentul aplicației.</a:t>
            </a:r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300000" y="2480000"/>
            <a:ext cx="4200000" cy="1190000"/>
          </a:xfrm>
          <a:prstGeom prst="roundRect">
            <a:avLst>
              <a:gd name="adj" fmla="val 6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res/values/strings.xml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&lt;string name="start_game"&gt;Start joc&lt;/string&gt;</a:t>
            </a:r>
          </a:p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res/layout/activity_main.xml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android:text="@string/start_game"</a:t>
            </a:r>
          </a:p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java/.../MainActivity.java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buttonStart.setOnClickListener(...)</a:t>
            </a:r>
          </a:p>
        </p:txBody>
      </p:sp>
    </p:spTree>
    <p:extLst>
      <p:ext uri="{BB962C8B-B14F-4D97-AF65-F5344CB8AC3E}">
        <p14:creationId xmlns:p14="http://schemas.microsoft.com/office/powerpoint/2010/main" val="1476225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9C8E139-36DF-473B-8228-BD1D80F9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8623BA-71B6-4871-8E62-7B24225F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6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1CAB63-3508-4D1B-B533-E3E12AA9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Activity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93AA6C1-F3BB-4978-A6E2-84579BBF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733552"/>
          </a:xfrm>
          <a:prstGeom xmlns:a="http://schemas.openxmlformats.org/drawingml/2006/main" prst="roundRect">
            <a:avLst>
              <a:gd name="adj" fmla="val 7479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12700">
            <a:solidFill>
              <a:srgbClr val="F2F7F4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8B5DA4-FC62-4090-8C2C-86D32C86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32688"/>
            <a:ext cx="7808976" cy="733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O Activity este o componentă Android care oferă o interfață utilizatorului. Sistemul îi gestionează ciclul de viață.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75BF499-9400-411D-B7EC-8DFC895F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94256"/>
            <a:ext cx="813816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În demonstrație: MainActivity pentru meniu și GameActivity pentru joc.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D8E3037-1657-48DD-951B-3AAB5320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52472"/>
            <a:ext cx="8138160" cy="813816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1C2B22"/>
          </a:solidFill>
          <a:ln xmlns:a="http://schemas.openxmlformats.org/drawingml/2006/main" w="12700">
            <a:solidFill>
              <a:srgbClr val="1C2B2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DA932FD-CB7C-4EF3-AA19-0D7257B2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2343912"/>
            <a:ext cx="784555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public class MainActivity extends AppCompatActivity {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// Comportamentul ecranului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C6A023D-2BDF-4EDB-88B7-F1D2C144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94304"/>
            <a:ext cx="813816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AppCompatActivity este clasa AndroidX folosită ca bază.</a:t>
            </a:r>
            <a:endParaRPr sz="16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0BA8D36-55B0-4146-9412-459AE3ED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52520"/>
            <a:ext cx="8138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332"/>
          </a:solidFill>
          <a:ln xmlns:a="http://schemas.openxmlformats.org/drawingml/2006/main" w="12700">
            <a:solidFill>
              <a:srgbClr val="1B4332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EAA9AC3-EF2D-4914-890D-25E04EC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81711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1084BFC-77DA-4947-B1DA-862AEFE7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652520"/>
            <a:ext cx="7571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 Activity per ecran este alegerea exemplului, nu o regulă pentru orice aplicație.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53793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EE07D34-1AD4-441E-A6AE-1A7D64F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8F4279-90CF-4B40-8476-7E068E8B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7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B58829-416C-490D-9662-4F51C128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Legătura dintre Activity și XML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D3F9E39-91E0-42AC-9386-DDC01665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25696"/>
            <a:ext cx="813816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3EC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9FBB1AC-862F-4021-BB6C-E82093C5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5CCC3-2F51-48F2-B6FC-463A5360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99E66C3-4A98-4844-BC53-6EB1EABE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425696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Ce se întâmplă dacă GameActivity încarcă R.layout.activity_main?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A85B847-0649-499C-A54E-15E184E8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733552"/>
          </a:xfrm>
          <a:prstGeom xmlns:a="http://schemas.openxmlformats.org/drawingml/2006/main" prst="roundRect">
            <a:avLst>
              <a:gd name="adj" fmla="val 7479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12700">
            <a:solidFill>
              <a:srgbClr val="F2F7F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A211431-1C39-4892-96EB-FBF92F60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32688"/>
            <a:ext cx="7808976" cy="733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Layout-ul XML descrie elementele interfeței. setContentView() încarcă interfața activității.</a:t>
            </a:r>
            <a:endParaRPr sz="16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FF06E62-4781-458D-9C9D-CD7CBA61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94256"/>
            <a:ext cx="8138160" cy="1210056"/>
          </a:xfrm>
          <a:prstGeom xmlns:a="http://schemas.openxmlformats.org/drawingml/2006/main" prst="roundRect">
            <a:avLst>
              <a:gd name="adj" fmla="val 3778"/>
            </a:avLst>
          </a:prstGeom>
          <a:solidFill xmlns:a="http://schemas.openxmlformats.org/drawingml/2006/main">
            <a:srgbClr val="1C2B22"/>
          </a:solidFill>
          <a:ln xmlns:a="http://schemas.openxmlformats.org/drawingml/2006/main" w="12700">
            <a:solidFill>
              <a:srgbClr val="1C2B2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C9A766B-35CD-46A3-94AC-28828F92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885696"/>
            <a:ext cx="7845552" cy="1027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@Override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protected void onCreate(Bundle state) {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super.onCreate(state);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setContentView(R.layout.activity_main);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2C2E8D-2A5A-416C-B00A-B3C752CE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2328"/>
            <a:ext cx="8138160" cy="578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onCreate(): inițializarea instanței. super: apelul implementării de bază. R.layout.activity_main: identificatorul layout-ului.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A300E8B-4715-4831-B7E7-29B5E67B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8448"/>
            <a:ext cx="8138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332"/>
          </a:solidFill>
          <a:ln xmlns:a="http://schemas.openxmlformats.org/drawingml/2006/main" w="12700">
            <a:solidFill>
              <a:srgbClr val="1B433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9CE4738-AEDB-4949-B62B-77CF18A3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400304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</p:spPr>
        <p:txBody xmlns:a="http://schemas.openxmlformats.org/drawingml/2006/main">
          <a:bodyPr/>
          <a:p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B50B9EA-3B11-4BB8-AF7D-51D194C4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838448"/>
            <a:ext cx="7571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Fragment simplificat; în proiect păstrăm tratarea marginilor sistemului.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55300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A0685-E01A-420D-918D-F5E72E8A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59A"/>
          </a:solidFill>
          <a:ln xmlns:a="http://schemas.openxmlformats.org/drawingml/2006/main" w="0">
            <a:solidFill>
              <a:srgbClr val="63D59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9C889-1FED-4DB5-8922-4EED7948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B4D3E"/>
                </a:solidFill>
              </a:defRPr>
            </a:pPr>
            <a:r>
              <a:rPr sz="1125" b="1">
                <a:solidFill>
                  <a:srgbClr val="1B4D3E"/>
                </a:solidFill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76372-C7BD-4EF8-B89A-00DC1C68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B4D3E"/>
                </a:solidFill>
              </a:defRPr>
            </a:pPr>
            <a:r>
              <a:rPr sz="1950" b="1">
                <a:solidFill>
                  <a:srgbClr val="1B4D3E"/>
                </a:solidFill>
              </a:rPr>
              <a:t>Răspuns: layout-ul greșit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9E5CC-70A6-424A-8F7D-005F833F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90600"/>
            <a:ext cx="813816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FF7F2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2646D-F595-4D63-B980-55E59451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B4D3E"/>
                </a:solidFill>
              </a:defRPr>
            </a:pPr>
            <a:r>
              <a:rPr sz="975" b="1">
                <a:solidFill>
                  <a:srgbClr val="1B4D3E"/>
                </a:solidFill>
              </a:rPr>
              <a:t>ÎNTREBAREA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4B24C-4286-4CF7-8A0E-2787C0FB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77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0332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0332C"/>
                </a:solidFill>
              </a:defRPr>
            </a:pPr>
            <a:r>
              <a:rPr sz="1500" b="1">
                <a:solidFill>
                  <a:srgbClr val="20332C"/>
                </a:solidFill>
              </a:rPr>
              <a:t>Ce se întâmplă dacă GameActivity încarcă R.layout.activity_main?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05F87-0AFC-4DB0-B4E1-52B236C1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24100"/>
            <a:ext cx="813816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1B4D3E"/>
          </a:solidFill>
          <a:ln xmlns:a="http://schemas.openxmlformats.org/drawingml/2006/main" w="0">
            <a:solidFill>
              <a:srgbClr val="1B4D3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EABE0-DFE6-45C6-B969-064B2D04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3D59A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3D59A"/>
                </a:solidFill>
              </a:defRPr>
            </a:pPr>
            <a:r>
              <a:rPr sz="975" b="1">
                <a:solidFill>
                  <a:srgbClr val="63D59A"/>
                </a:solidFill>
              </a:rPr>
              <a:t>RĂSPUNS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DCCAA-DAEF-4A81-9DE6-C4A3E6E3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0000"/>
            <a:ext cx="345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findViewById(R.id.gameRoot) întoarce null.</a:t>
            </a:r>
          </a:p>
          <a:p xmlns:a="http://schemas.openxmlformats.org/drawingml/2006/main">
            <a:r>
              <a:rPr sz="1300" b="1">
                <a:solidFill>
                  <a:srgbClr val="FFFFFF"/>
                </a:solidFill>
              </a:rPr>
              <a:t>Folosirea acestui null oprește aplicația cu NullPointerException.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B22FC-F45F-4B71-B74D-6FEDB60B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00500"/>
            <a:ext cx="813816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2E6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61AFB-9189-4986-BFBF-F35535F9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B4D3E"/>
                </a:solidFill>
              </a:defRPr>
            </a:pPr>
            <a:r>
              <a:rPr sz="1200">
                <a:solidFill>
                  <a:srgbClr val="1B4D3E"/>
                </a:solidFill>
              </a:rPr>
              <a:t>Layout-ul greșit nu conține id-urile pe care le caută GameActivity. Corect: R.layout.activity_game.</a:t>
            </a:r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300000" y="2480000"/>
            <a:ext cx="4200000" cy="1190000"/>
          </a:xfrm>
          <a:prstGeom prst="roundRect">
            <a:avLst>
              <a:gd name="adj" fmla="val 6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java/.../GameActivity.java, în onCreate()</a:t>
            </a:r>
          </a:p>
          <a:p>
            <a:pPr algn="l"/>
            <a:r>
              <a:rPr sz="1000">
                <a:solidFill>
                  <a:srgbClr val="F4A3A3"/>
                </a:solidFill>
                <a:latin typeface="Courier New"/>
              </a:rPr>
              <a:t>setContentView(R.layout.activity_main); // greșit</a:t>
            </a:r>
          </a:p>
          <a:p>
            <a:pPr algn="l"/>
            <a:r>
              <a:rPr sz="1000">
                <a:solidFill>
                  <a:srgbClr val="9BE3B0"/>
                </a:solidFill>
                <a:latin typeface="Courier New"/>
              </a:rPr>
              <a:t>findViewById(R.id.gameRoot); // null, apoi NPE</a:t>
            </a:r>
          </a:p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corect: setContentView(R.layout.activity_game);</a:t>
            </a:r>
          </a:p>
        </p:txBody>
      </p:sp>
    </p:spTree>
    <p:extLst>
      <p:ext uri="{BB962C8B-B14F-4D97-AF65-F5344CB8AC3E}">
        <p14:creationId xmlns:p14="http://schemas.microsoft.com/office/powerpoint/2010/main" val="470015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86EB46-6D8B-4D65-96E6-E9004B1C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04D52C-1155-49AC-9140-0F025FF0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9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601E5D-D767-450B-9BF4-DAB98926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Views și dimensiuni în XML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890B45E-DA9D-4462-A03C-718B4B97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485648"/>
          </a:xfrm>
          <a:prstGeom xmlns:a="http://schemas.openxmlformats.org/drawingml/2006/main" prst="roundRect">
            <a:avLst>
              <a:gd name="adj" fmla="val 11297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12700">
            <a:solidFill>
              <a:srgbClr val="F2F7F4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4EE091E-3EF4-42CD-88A7-1E12A75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32688"/>
            <a:ext cx="7808976" cy="48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View: un element al interfeței. ViewGroup: container pentru alte elemente.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F5FA890-E876-4D6F-A815-3F201344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46352"/>
            <a:ext cx="813816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LinearLayout organizează; TextView afișează text; Button primește apăsări.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218ECB2-8C4F-4E0E-936F-B471E61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04568"/>
            <a:ext cx="8138160" cy="1011936"/>
          </a:xfrm>
          <a:prstGeom xmlns:a="http://schemas.openxmlformats.org/drawingml/2006/main" prst="roundRect">
            <a:avLst>
              <a:gd name="adj" fmla="val 4518"/>
            </a:avLst>
          </a:prstGeom>
          <a:solidFill xmlns:a="http://schemas.openxmlformats.org/drawingml/2006/main">
            <a:srgbClr val="1C2B22"/>
          </a:solidFill>
          <a:ln xmlns:a="http://schemas.openxmlformats.org/drawingml/2006/main" w="12700">
            <a:solidFill>
              <a:srgbClr val="1C2B2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EF3E9BF-6A2E-44EB-B5DB-74670931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2096008"/>
            <a:ext cx="7845552" cy="829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&lt;Button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android:layout_width="match_parent"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android:layout_height="wrap_content"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android:text="@string/start_game" /&gt;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D38BCB-BBF4-4D70-AD30-BFC4D1E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44520"/>
            <a:ext cx="8138160" cy="578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match_parent folosește spațiul oferit de părinte; wrap_content adaptează dimensiunea la conținut.</a:t>
            </a:r>
            <a:endParaRPr sz="16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2048D86-751E-42B6-9051-54248E36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50640"/>
            <a:ext cx="8138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332"/>
          </a:solidFill>
          <a:ln xmlns:a="http://schemas.openxmlformats.org/drawingml/2006/main" w="12700">
            <a:solidFill>
              <a:srgbClr val="1B4332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840D4FD-1E7C-48EB-8C36-B3E2E55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401523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14B88F9-3DD5-4CAB-BD4E-749A9755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850640"/>
            <a:ext cx="7571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dp pentru dimensiuni; sp pentru text, ținând cont și de preferința de scalare a utilizatorului.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48651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9A695A-2360-4A1D-849E-B8F85D5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ABCDAC-98B2-42FA-AC07-B30AB50D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10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E1CE3A2-8F68-4092-B9A9-72D96602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Resurse și identificatori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D16DF4-58B8-47BF-9376-F7E8D4B5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25696"/>
            <a:ext cx="813816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3EC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4312CB0-A128-4F99-889B-00AB4CBD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8EE3A88-32B1-44C6-9AEA-A5F22C3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CB29B9F-7DDC-48B7-9337-55FD733F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425696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Textul direct în XML funcționează. Ce devine mai greu dacă vrem două limbi?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B9423B8-C0B9-41F9-8996-A7E7C296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733552"/>
          </a:xfrm>
          <a:prstGeom xmlns:a="http://schemas.openxmlformats.org/drawingml/2006/main" prst="roundRect">
            <a:avLst>
              <a:gd name="adj" fmla="val 7479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12700">
            <a:solidFill>
              <a:srgbClr val="F2F7F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40D0AAB-27F3-47C1-890E-BCBAC7F6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32688"/>
            <a:ext cx="7808976" cy="733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Resursele sunt texte, layout-uri și imagini accesate prin identificatori din clasa generată R.</a:t>
            </a:r>
            <a:endParaRPr sz="16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2A02DF9-5D6E-4041-A1FB-2810BCF2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94256"/>
            <a:ext cx="8138160" cy="417576"/>
          </a:xfrm>
          <a:prstGeom xmlns:a="http://schemas.openxmlformats.org/drawingml/2006/main" prst="roundRect">
            <a:avLst>
              <a:gd name="adj" fmla="val 10949"/>
            </a:avLst>
          </a:prstGeom>
          <a:solidFill xmlns:a="http://schemas.openxmlformats.org/drawingml/2006/main">
            <a:srgbClr val="1C2B22"/>
          </a:solidFill>
          <a:ln xmlns:a="http://schemas.openxmlformats.org/drawingml/2006/main" w="12700">
            <a:solidFill>
              <a:srgbClr val="1C2B22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199865-E397-46FD-8B48-38A89B20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885696"/>
            <a:ext cx="7845552" cy="234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&lt;string name="start_game"&gt;Start joc&lt;/string&gt;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870ABE0-611B-49B8-92E6-B2B70C10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39848"/>
            <a:ext cx="8138160" cy="642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În layout: android:id="@+id/buttonStart" și android:text="@string/start_game".</a:t>
            </a:r>
            <a:endParaRPr sz="160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@+id declară ID-ul; @string referă textul; R.id.buttonStart referă ID-ul din Java.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BF45B89-1749-4E69-8505-368D2A68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09976"/>
            <a:ext cx="8138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332"/>
          </a:solidFill>
          <a:ln xmlns:a="http://schemas.openxmlformats.org/drawingml/2006/main" w="12700">
            <a:solidFill>
              <a:srgbClr val="1B433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4533A18-B3F0-416D-B752-6C1A2603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274568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0FE85F0-A06D-4DA1-AB56-C415D398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109976"/>
            <a:ext cx="7571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Textele în resurse se pot reutiliza și traduce.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57349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B7C40-36D6-4215-895D-8EB293A4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59A"/>
          </a:solidFill>
          <a:ln xmlns:a="http://schemas.openxmlformats.org/drawingml/2006/main" w="0">
            <a:solidFill>
              <a:srgbClr val="63D59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C8372-B279-4CB6-8358-120C5986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B4D3E"/>
                </a:solidFill>
              </a:defRPr>
            </a:pPr>
            <a:r>
              <a:rPr sz="1125" b="1">
                <a:solidFill>
                  <a:srgbClr val="1B4D3E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E8E37-7253-4236-83B5-7D447678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B4D3E"/>
                </a:solidFill>
              </a:defRPr>
            </a:pPr>
            <a:r>
              <a:rPr sz="1950" b="1">
                <a:solidFill>
                  <a:srgbClr val="1B4D3E"/>
                </a:solidFill>
              </a:rPr>
              <a:t>Răspuns: textele și traducerea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937BB-09C0-4E06-83ED-5DFA6C32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90600"/>
            <a:ext cx="813816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FF7F2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695CA-ECF7-4490-A672-F3976D35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B4D3E"/>
                </a:solidFill>
              </a:defRPr>
            </a:pPr>
            <a:r>
              <a:rPr sz="975" b="1">
                <a:solidFill>
                  <a:srgbClr val="1B4D3E"/>
                </a:solidFill>
              </a:rPr>
              <a:t>ÎNTREBAREA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4110F-8C40-4D7E-8CEA-90F9C330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77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0332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0332C"/>
                </a:solidFill>
              </a:defRPr>
            </a:pPr>
            <a:r>
              <a:rPr sz="1500" b="1">
                <a:solidFill>
                  <a:srgbClr val="20332C"/>
                </a:solidFill>
              </a:rPr>
              <a:t>Textul scris direct în XML funcționează. Ce devine dificil dacă vrem și limba engleză?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C7830-0BE3-43B3-BC7B-99ED3949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24100"/>
            <a:ext cx="813816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1B4D3E"/>
          </a:solidFill>
          <a:ln xmlns:a="http://schemas.openxmlformats.org/drawingml/2006/main" w="0">
            <a:solidFill>
              <a:srgbClr val="1B4D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0BE7E-5257-4DE5-A46C-C7B6BC9F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3D59A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3D59A"/>
                </a:solidFill>
              </a:defRPr>
            </a:pPr>
            <a:r>
              <a:rPr sz="975" b="1">
                <a:solidFill>
                  <a:srgbClr val="63D59A"/>
                </a:solidFill>
              </a:rPr>
              <a:t>RĂSPUNS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D406C-8A57-46E2-9493-D6403EC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0000"/>
            <a:ext cx="345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Textul scris în mai multe layout-uri se schimbă în fiecare loc.</a:t>
            </a:r>
          </a:p>
          <a:p xmlns:a="http://schemas.openxmlformats.org/drawingml/2006/main">
            <a:r>
              <a:rPr sz="1300" b="1">
                <a:solidFill>
                  <a:srgbClr val="FFFFFF"/>
                </a:solidFill>
              </a:rPr>
              <a:t>Din strings.xml, layout-ul folosește doar numele.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42C0D-304E-4945-ABA9-94C1CF5D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00500"/>
            <a:ext cx="813816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2E6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A1D3C-48C7-473A-9556-ADCA4A7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B4D3E"/>
                </a:solidFill>
              </a:defRPr>
            </a:pPr>
            <a:r>
              <a:rPr sz="1200">
                <a:solidFill>
                  <a:srgbClr val="1B4D3E"/>
                </a:solidFill>
              </a:rPr>
              <a:t>Pentru o altă limbă putem adăuga resurse precum values-en/strings.xml, fără să rescriem layout-urile.</a:t>
            </a:r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300000" y="2480000"/>
            <a:ext cx="4200000" cy="1190000"/>
          </a:xfrm>
          <a:prstGeom prst="roundRect">
            <a:avLst>
              <a:gd name="adj" fmla="val 6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res/values/strings.xml (română)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&lt;string name="start_game"&gt;Start joc&lt;/string&gt;</a:t>
            </a:r>
          </a:p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res/values-en/strings.xml (engleză)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&lt;string name="start_game"&gt;Start game&lt;/string&gt;</a:t>
            </a:r>
          </a:p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layout-ul rămâne neschimbat: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android:text="@string/start_game"</a:t>
            </a:r>
          </a:p>
        </p:txBody>
      </p:sp>
    </p:spTree>
    <p:extLst>
      <p:ext uri="{BB962C8B-B14F-4D97-AF65-F5344CB8AC3E}">
        <p14:creationId xmlns:p14="http://schemas.microsoft.com/office/powerpoint/2010/main" val="1760347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06A17A-77A8-48FF-A1E8-6F6F688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26147A-071A-42F0-8EB0-FEDDF488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12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5A7F76-60D0-4FD7-80BC-1DA90C21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Evenimente și listener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A59FB1A-8C23-4698-B74C-6BFEE125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25696"/>
            <a:ext cx="813816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3EC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F704764-607E-4AE5-BBDE-74F83568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41AF15B-7052-490D-A812-E3606F1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D57D8A-4DB2-4789-BAE7-74790E3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425696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La deschiderea meniului, fără apăsare, apare mesajul „Deschidem GameActivity”? De ce?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E5DF08-EA19-4D03-9391-55BF3EC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Un listener stabilește reacția la un eveniment.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ECDFC7-604D-4B89-85A7-79401049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90904"/>
            <a:ext cx="8138160" cy="1011936"/>
          </a:xfrm>
          <a:prstGeom xmlns:a="http://schemas.openxmlformats.org/drawingml/2006/main" prst="roundRect">
            <a:avLst>
              <a:gd name="adj" fmla="val 4518"/>
            </a:avLst>
          </a:prstGeom>
          <a:solidFill xmlns:a="http://schemas.openxmlformats.org/drawingml/2006/main">
            <a:srgbClr val="1C2B22"/>
          </a:solidFill>
          <a:ln xmlns:a="http://schemas.openxmlformats.org/drawingml/2006/main" w="12700">
            <a:solidFill>
              <a:srgbClr val="1C2B2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DFD1F90-F0C1-4C8F-8530-8778F204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482344"/>
            <a:ext cx="7845552" cy="829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Button buttonStart = findViewById(R.id.buttonStart);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buttonStart.setOnClickListener(view -&gt; {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Log.d("Lab02", "Deschidem GameActivity");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});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C309C0B-5B43-43FF-9B91-9BE7489C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0856"/>
            <a:ext cx="8138160" cy="578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findViewById() caută elementul în interfața încărcată. setOnClickListener() înregistrează reacția. Expresia lambda conține codul executat la apăsare.</a:t>
            </a:r>
            <a:endParaRPr sz="16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AE2C402-7DA0-42FB-9093-26FCF8E8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36976"/>
            <a:ext cx="8138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332"/>
          </a:solidFill>
          <a:ln xmlns:a="http://schemas.openxmlformats.org/drawingml/2006/main" w="12700">
            <a:solidFill>
              <a:srgbClr val="1B433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2DA9E22-EF0F-4FB5-A594-9E143720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401568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</p:spPr>
        <p:txBody xmlns:a="http://schemas.openxmlformats.org/drawingml/2006/main">
          <a:bodyPr/>
          <a:p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43DD417-5908-4A94-8612-F5727CEE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236976"/>
            <a:ext cx="7571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Căutăm butonul după setContentView().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675454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85654-AC9E-4C48-B316-E1087FB7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59A"/>
          </a:solidFill>
          <a:ln xmlns:a="http://schemas.openxmlformats.org/drawingml/2006/main" w="0">
            <a:solidFill>
              <a:srgbClr val="63D59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4A234-309C-470F-87B0-E7DB10B6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B4D3E"/>
                </a:solidFill>
              </a:defRPr>
            </a:pPr>
            <a:r>
              <a:rPr sz="1125" b="1">
                <a:solidFill>
                  <a:srgbClr val="1B4D3E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F8624-9221-4C4F-B45F-04E0A9C6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B4D3E"/>
                </a:solidFill>
              </a:defRPr>
            </a:pPr>
            <a:r>
              <a:rPr sz="1950" b="1">
                <a:solidFill>
                  <a:srgbClr val="1B4D3E"/>
                </a:solidFill>
              </a:rPr>
              <a:t>Răspuns: când rulează listener-ul?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EDF64-07AD-4C63-B837-1EA534F5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90600"/>
            <a:ext cx="813816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FF7F2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9E7D-8D8F-49FD-94BB-10499E2C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B4D3E"/>
                </a:solidFill>
              </a:defRPr>
            </a:pPr>
            <a:r>
              <a:rPr sz="975" b="1">
                <a:solidFill>
                  <a:srgbClr val="1B4D3E"/>
                </a:solidFill>
              </a:rPr>
              <a:t>ÎNTREBAREA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5BE52-CEA9-4420-839C-A3DC0D24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77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0332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0332C"/>
                </a:solidFill>
              </a:defRPr>
            </a:pPr>
            <a:r>
              <a:rPr sz="1500" b="1">
                <a:solidFill>
                  <a:srgbClr val="20332C"/>
                </a:solidFill>
              </a:rPr>
              <a:t>Mesajul «Deschidem GameActivity» apare imediat după deschiderea meniului?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21621-A53C-41FA-8989-336D545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24100"/>
            <a:ext cx="813816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1B4D3E"/>
          </a:solidFill>
          <a:ln xmlns:a="http://schemas.openxmlformats.org/drawingml/2006/main" w="0">
            <a:solidFill>
              <a:srgbClr val="1B4D3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1F55A-95BA-4484-9B6C-384DDF42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3D59A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3D59A"/>
                </a:solidFill>
              </a:defRPr>
            </a:pPr>
            <a:r>
              <a:rPr sz="975" b="1">
                <a:solidFill>
                  <a:srgbClr val="63D59A"/>
                </a:solidFill>
              </a:rPr>
              <a:t>RĂSPUNS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2ED99-7C5C-412F-9669-6746A97E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0000"/>
            <a:ext cx="345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Nu. setOnClickListener() doar înregistrează reacția.</a:t>
            </a:r>
          </a:p>
          <a:p xmlns:a="http://schemas.openxmlformats.org/drawingml/2006/main">
            <a:r>
              <a:rPr sz="1300" b="1">
                <a:solidFill>
                  <a:srgbClr val="FFFFFF"/>
                </a:solidFill>
              </a:rPr>
              <a:t>Lambda rulează când apăsăm butonul.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F1E8B-1B25-49DB-A9E3-D066CF03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00500"/>
            <a:ext cx="813816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2E6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9A2C4-70FC-408A-885F-6A0EDFDD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B4D3E"/>
                </a:solidFill>
              </a:defRPr>
            </a:pPr>
            <a:r>
              <a:rPr sz="1200">
                <a:solidFill>
                  <a:srgbClr val="1B4D3E"/>
                </a:solidFill>
              </a:rPr>
              <a:t>Definirea reacției și producerea evenimentului sunt două momente diferite.</a:t>
            </a:r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300000" y="2480000"/>
            <a:ext cx="4200000" cy="1190000"/>
          </a:xfrm>
          <a:prstGeom prst="roundRect">
            <a:avLst>
              <a:gd name="adj" fmla="val 6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java/.../MainActivity.java, în onCreate()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buttonStart.setOnClickListener(view -&gt; {</a:t>
            </a:r>
          </a:p>
          <a:p>
            <a:pPr algn="l"/>
            <a:r>
              <a:rPr sz="1000">
                <a:solidFill>
                  <a:srgbClr val="9BE3B0"/>
                </a:solidFill>
                <a:latin typeface="Courier New"/>
              </a:rPr>
              <a:t>    Log.d("Lab02", "Deschidem GameActivity");</a:t>
            </a:r>
          </a:p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});  // aici doar înregistrăm reacția</a:t>
            </a:r>
          </a:p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Logcat gol până apăsăm Start</a:t>
            </a:r>
          </a:p>
        </p:txBody>
      </p:sp>
    </p:spTree>
    <p:extLst>
      <p:ext uri="{BB962C8B-B14F-4D97-AF65-F5344CB8AC3E}">
        <p14:creationId xmlns:p14="http://schemas.microsoft.com/office/powerpoint/2010/main" val="3011624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354DE1-FE72-464C-AB99-669DC73A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020C34-9762-4BE2-A2EF-3B160915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14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F08D2A2-2C79-436F-8604-E8E199CC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Navigare cu Intent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BED7B13-1C67-4AA0-802E-49B2857F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733552"/>
          </a:xfrm>
          <a:prstGeom xmlns:a="http://schemas.openxmlformats.org/drawingml/2006/main" prst="roundRect">
            <a:avLst>
              <a:gd name="adj" fmla="val 7479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12700">
            <a:solidFill>
              <a:srgbClr val="F2F7F4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DCE8D9A-04FD-47C0-92CB-0F2A2BFF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32688"/>
            <a:ext cx="7808976" cy="733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Un Intent descrie o cerere de executare a unei acțiuni. Un Intent explicit indică destinația exactă.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EF94E56-9DFE-40D0-AD78-F1C450F2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94256"/>
            <a:ext cx="8138160" cy="813816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1C2B22"/>
          </a:solidFill>
          <a:ln xmlns:a="http://schemas.openxmlformats.org/drawingml/2006/main" w="12700">
            <a:solidFill>
              <a:srgbClr val="1C2B2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2C7CA2-F276-481B-B919-56DD4C5B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885696"/>
            <a:ext cx="7845552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Intent intent = new Intent(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MainActivity.this, GameActivity.class);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startActivity(intent);</a:t>
            </a:r>
            <a:endParaRPr sz="1300"/>
          </a:p>
        </p:txBody>
      </p:sp>
      <p:graphicFrame>
        <p:nvGraphicFramePr>
          <p:cNvPr id="11" name="Table 0">
            <a:extLst xmlns:a="http://schemas.openxmlformats.org/drawingml/2006/main">
              <a:ext uri="{FF2B5EF4-FFF2-40B4-BE49-F238E27FC236}">
                <a16:creationId xmlns:a16="http://schemas.microsoft.com/office/drawing/2014/main" id="{D6566B68-A377-4A72-B4C3-09BFAFDF2CA9}"/>
              </a:ext>
            </a:extLst>
          </p:cNvPr>
          <p:cNvGraphicFramePr/>
          <p:nvPr/>
        </p:nvGraphicFramePr>
        <p:xfrm>
          <a:off xmlns:a="http://schemas.openxmlformats.org/drawingml/2006/main" x="502920" y="2736088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MainActivity.this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contextul activității curente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GameActivity.class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componenta destinație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startActivity()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solicită pornirea ei. Construirea obiectului Intent nu pornește singură ecranul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070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45D00E3-1042-4319-86A9-481CF3D7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C41003-990C-42D0-B65A-627A44B0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15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18FA9B3-9AF5-4036-BD5E-651FE3CF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Manifest și revenire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EA62E01-67F6-4833-AB54-DAACDA48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25696"/>
            <a:ext cx="813816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3EC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9408262-35DE-4768-8DAB-34F32B14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E233051-D9FA-4AC7-8E35-0A12C541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2FC2642-E87C-4E34-83E8-28CA54DD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425696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Ce se întâmplă dacă pentru Înapoi pornim încă un MainActivity, apoi repetăm traseul?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AD6B7D3-604A-4053-A99B-9BCC3376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485648"/>
          </a:xfrm>
          <a:prstGeom xmlns:a="http://schemas.openxmlformats.org/drawingml/2006/main" prst="roundRect">
            <a:avLst>
              <a:gd name="adj" fmla="val 11297"/>
            </a:avLst>
          </a:prstGeom>
          <a:solidFill xmlns:a="http://schemas.openxmlformats.org/drawingml/2006/main">
            <a:srgbClr val="F2F7F4"/>
          </a:solidFill>
          <a:ln xmlns:a="http://schemas.openxmlformats.org/drawingml/2006/main" w="12700">
            <a:solidFill>
              <a:srgbClr val="F2F7F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B6DE4DD-88DA-4B7D-B01F-1D2542FD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32688"/>
            <a:ext cx="7808976" cy="48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Declarăm activitatea internă în interiorul elementului application:</a:t>
            </a:r>
            <a:endParaRPr sz="16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98C3DC-5107-4EBF-ACA3-10FA9785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46352"/>
            <a:ext cx="8138160" cy="615696"/>
          </a:xfrm>
          <a:prstGeom xmlns:a="http://schemas.openxmlformats.org/drawingml/2006/main" prst="roundRect">
            <a:avLst>
              <a:gd name="adj" fmla="val 7426"/>
            </a:avLst>
          </a:prstGeom>
          <a:solidFill xmlns:a="http://schemas.openxmlformats.org/drawingml/2006/main">
            <a:srgbClr val="1C2B22"/>
          </a:solidFill>
          <a:ln xmlns:a="http://schemas.openxmlformats.org/drawingml/2006/main" w="12700">
            <a:solidFill>
              <a:srgbClr val="1C2B22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332E40B-24B9-42B8-8DF0-2976229E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637792"/>
            <a:ext cx="7845552" cy="432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&lt;activity android:name=".GameActivity"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android:exported="false" /&gt;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898990-B1A9-4E11-93BC-3444889E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90064"/>
            <a:ext cx="8138160" cy="890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La butonul Înapoi folosim finish().</a:t>
            </a:r>
            <a:endParaRPr sz="160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În navigarea simplă a demonstrației, GameActivity este deasupra MainActivity în back stack. Închiderea jocului dezvăluie meniul existent.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E3D0B0E-5A40-4808-987D-CACE03ED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8096"/>
            <a:ext cx="8138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332"/>
          </a:solidFill>
          <a:ln xmlns:a="http://schemas.openxmlformats.org/drawingml/2006/main" w="12700">
            <a:solidFill>
              <a:srgbClr val="1B433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E007E79-5FE7-44DE-A8DC-29544E18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472688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A45CDA0-8A87-4851-A0A8-E5886432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308096"/>
            <a:ext cx="7571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MainActivity păstrează declarația de lansare generată în proiect.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6725644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7A841-66BF-476E-BBDF-F78D0F50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59A"/>
          </a:solidFill>
          <a:ln xmlns:a="http://schemas.openxmlformats.org/drawingml/2006/main" w="0">
            <a:solidFill>
              <a:srgbClr val="63D59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AC746-8C20-4A91-AA4F-6F40797B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B4D3E"/>
                </a:solidFill>
              </a:defRPr>
            </a:pPr>
            <a:r>
              <a:rPr sz="1125" b="1">
                <a:solidFill>
                  <a:srgbClr val="1B4D3E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B2A07-EE80-49A8-ACB2-B34DF879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B4D3E"/>
                </a:solidFill>
              </a:defRPr>
            </a:pPr>
            <a:r>
              <a:rPr sz="1950" b="1">
                <a:solidFill>
                  <a:srgbClr val="1B4D3E"/>
                </a:solidFill>
              </a:rPr>
              <a:t>Răspuns: revenirea la meniu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E8579-E364-4CBB-92EF-AD02F6C9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90600"/>
            <a:ext cx="813816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FF7F2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C30D8-F4AE-4317-A41A-2F32A9C3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B4D3E"/>
                </a:solidFill>
              </a:defRPr>
            </a:pPr>
            <a:r>
              <a:rPr sz="975" b="1">
                <a:solidFill>
                  <a:srgbClr val="1B4D3E"/>
                </a:solidFill>
              </a:rPr>
              <a:t>ÎNTREBAREA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5009D-72D0-458E-9BB3-C7E2E932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77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0332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0332C"/>
                </a:solidFill>
              </a:defRPr>
            </a:pPr>
            <a:r>
              <a:rPr sz="1500" b="1">
                <a:solidFill>
                  <a:srgbClr val="20332C"/>
                </a:solidFill>
              </a:rPr>
              <a:t>Ce se întâmplă dacă butonul Înapoi pornește de fiecare dată un MainActivity nou?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545E6-2C71-4E0D-830F-80524DC5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24100"/>
            <a:ext cx="813816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1B4D3E"/>
          </a:solidFill>
          <a:ln xmlns:a="http://schemas.openxmlformats.org/drawingml/2006/main" w="0">
            <a:solidFill>
              <a:srgbClr val="1B4D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008B5-8B8A-408F-AB29-6934AD5B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3D59A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3D59A"/>
                </a:solidFill>
              </a:defRPr>
            </a:pPr>
            <a:r>
              <a:rPr sz="975" b="1">
                <a:solidFill>
                  <a:srgbClr val="63D59A"/>
                </a:solidFill>
              </a:rPr>
              <a:t>RĂSPUNS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8D528-FE8D-4B92-B4BD-63391C5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0000"/>
            <a:ext cx="345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Se acumulează instanțe în back stack.</a:t>
            </a:r>
          </a:p>
          <a:p xmlns:a="http://schemas.openxmlformats.org/drawingml/2006/main">
            <a:r>
              <a:rPr sz="1300" b="1">
                <a:solidFill>
                  <a:srgbClr val="FFFFFF"/>
                </a:solidFill>
              </a:rPr>
              <a:t>Pentru revenire închidem ecranul curent cu finish().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48A24-7894-495B-AB59-91A28586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00500"/>
            <a:ext cx="813816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2E6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C8EEC-F16F-47FD-B9FA-E269F132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B4D3E"/>
                </a:solidFill>
              </a:defRPr>
            </a:pPr>
            <a:r>
              <a:rPr sz="1200">
                <a:solidFill>
                  <a:srgbClr val="1B4D3E"/>
                </a:solidFill>
              </a:rPr>
              <a:t>Start deschide un ecran nou; finish() închide ecranul curent și îl dezvăluie pe cel anterior.</a:t>
            </a:r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300000" y="2480000"/>
            <a:ext cx="4200000" cy="1190000"/>
          </a:xfrm>
          <a:prstGeom prst="roundRect">
            <a:avLst>
              <a:gd name="adj" fmla="val 6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java/.../GameActivity.java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buttonBack.setOnClickListener(view -&gt; {</a:t>
            </a:r>
          </a:p>
          <a:p>
            <a:pPr algn="l"/>
            <a:r>
              <a:rPr sz="1000">
                <a:solidFill>
                  <a:srgbClr val="9BE3B0"/>
                </a:solidFill>
                <a:latin typeface="Courier New"/>
              </a:rPr>
              <a:t>    finish(); // corect</a:t>
            </a:r>
          </a:p>
          <a:p>
            <a:pPr algn="l"/>
            <a:r>
              <a:rPr sz="1000">
                <a:solidFill>
                  <a:srgbClr val="F4A3A3"/>
                </a:solidFill>
                <a:latin typeface="Courier New"/>
              </a:rPr>
              <a:t>    // startActivity(new Intent(..MainActivity..))</a:t>
            </a:r>
          </a:p>
          <a:p>
            <a:pPr algn="l"/>
            <a:r>
              <a:rPr sz="1000">
                <a:solidFill>
                  <a:srgbClr val="F4A3A3"/>
                </a:solidFill>
                <a:latin typeface="Courier New"/>
              </a:rPr>
              <a:t>    // greșit: încă un meniu în back stack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9413499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163B79-24D2-4157-9C44-4DD41C17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8E4FA6A-FFC9-428E-903A-082FA19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17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8987984-88E4-418A-985A-E9950DA9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Ciclul de viață al unei Activity</a:t>
            </a:r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DA0254E-DE66-4E80-B8DF-C3BA4007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Android anunță tranzițiile prin callback-uri:</a:t>
            </a:r>
            <a:endParaRPr sz="1600"/>
          </a:p>
        </p:txBody>
      </p:sp>
      <p:graphicFrame>
        <p:nvGraphicFramePr>
          <p:cNvPr id="13" name="Table 0">
            <a:extLst xmlns:a="http://schemas.openxmlformats.org/drawingml/2006/main">
              <a:ext uri="{FF2B5EF4-FFF2-40B4-BE49-F238E27FC236}">
                <a16:creationId xmlns:a16="http://schemas.microsoft.com/office/drawing/2014/main" id="{CCD49C5F-6A32-46A2-B408-9CD459180228}"/>
              </a:ext>
            </a:extLst>
          </p:cNvPr>
          <p:cNvGraphicFramePr/>
          <p:nvPr/>
        </p:nvGraphicFramePr>
        <p:xfrm>
          <a:off xmlns:a="http://schemas.openxmlformats.org/drawingml/2006/main" x="502920" y="1390904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onCreate()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inițializare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onStart()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devine vizibilă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onResume()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intră în starea Resumed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onPause()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părăsește Resumed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onStop()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nu mai este vizibilă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onRestart()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revenirea din Stopped, înainte de onStart()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onDestroy()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distrugerea instanței, când callback-ul este executat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6F26971-C3AA-4EAE-B00D-51DAC06F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77412"/>
            <a:ext cx="8138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332"/>
          </a:solidFill>
          <a:ln xmlns:a="http://schemas.openxmlformats.org/drawingml/2006/main" w="12700">
            <a:solidFill>
              <a:srgbClr val="1B4332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9C790AE-4CEC-43F2-8B9D-EB4AF99F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84200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9310704-9280-40B1-B871-8FAA6469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677412"/>
            <a:ext cx="7571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onPause() nu înseamnă distrugere. onDestroy() nu este garantat la terminarea procesului.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21413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96F2978-C715-43A0-B80B-C43AAA0A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63A915-41D7-4C71-B003-CFC24FB6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18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BC1D3B-6EAC-4D78-B622-E435A844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Observarea în Logcat</a:t>
            </a:r>
            <a:endParaRPr sz="2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5107F5B-92AB-4226-A081-2AB00375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25696"/>
            <a:ext cx="813816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3EC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C10589F-0534-4593-861F-17E5C70F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CAC1E8-BCE5-403B-AE6E-5AB7BF06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498848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?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8922304-2FF3-4233-89D1-D27A3E48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425696"/>
            <a:ext cx="74523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La Home și revenire rapidă, dacă instanța este păstrată, ne așteptăm la onCreate() din nou?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075276-1537-4030-A168-B09A4857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813816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Logcat afișează mesaje din aplicație și sistem.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2B22B8C-300F-46C9-BD0B-204F982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90904"/>
            <a:ext cx="8138160" cy="1210056"/>
          </a:xfrm>
          <a:prstGeom xmlns:a="http://schemas.openxmlformats.org/drawingml/2006/main" prst="roundRect">
            <a:avLst>
              <a:gd name="adj" fmla="val 3778"/>
            </a:avLst>
          </a:prstGeom>
          <a:solidFill xmlns:a="http://schemas.openxmlformats.org/drawingml/2006/main">
            <a:srgbClr val="1C2B22"/>
          </a:solidFill>
          <a:ln xmlns:a="http://schemas.openxmlformats.org/drawingml/2006/main" w="12700">
            <a:solidFill>
              <a:srgbClr val="1C2B2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2090F0-36E1-4CE3-9AE8-4CA5545B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482344"/>
            <a:ext cx="7845552" cy="1027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@Override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protected void onResume() {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super.onResume();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    Log.d("Lab02", "MainActivity onResume");</a:t>
            </a:r>
            <a:endParaRPr sz="1300"/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E8F3E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9B27003-5B84-4011-8405-1FEA8C4B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28976"/>
            <a:ext cx="8138160" cy="33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600">
                <a:solidFill>
                  <a:srgbClr val="24312A"/>
                </a:solidFill>
                <a:latin typeface="Calibri"/>
                <a:ea typeface="Calibri"/>
                <a:cs typeface="Calibri"/>
              </a:rPr>
              <a:t>Log.d(): mesaj de depanare. Lab02: tag-ul, filtrat cu tag:Lab02.</a:t>
            </a:r>
            <a:endParaRPr sz="16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001C890-500F-42CF-9F65-D20B5CF9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87192"/>
            <a:ext cx="813816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332"/>
          </a:solidFill>
          <a:ln xmlns:a="http://schemas.openxmlformats.org/drawingml/2006/main" w="12700">
            <a:solidFill>
              <a:srgbClr val="1B4332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C47947E-CEB8-4BC0-B6F4-97ED4E60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35178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04DF74-B135-45FD-B71E-D6D909F9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187192"/>
            <a:ext cx="757123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Urmărim lansare, Start–Înapoi și Home–revenire. Logăm și onRestart().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5544984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E6439-DF1B-4ACD-BF29-A0E1A37F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D59A"/>
          </a:solidFill>
          <a:ln xmlns:a="http://schemas.openxmlformats.org/drawingml/2006/main" w="0">
            <a:solidFill>
              <a:srgbClr val="63D59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67CEB-7741-46C6-93C5-71D49429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B4D3E"/>
                </a:solidFill>
              </a:defRPr>
            </a:pPr>
            <a:r>
              <a:rPr sz="1125" b="1">
                <a:solidFill>
                  <a:srgbClr val="1B4D3E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31752-5766-4D9B-A581-5D7AFC46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B4D3E"/>
                </a:solidFill>
              </a:defRPr>
            </a:pPr>
            <a:r>
              <a:rPr sz="1950" b="1">
                <a:solidFill>
                  <a:srgbClr val="1B4D3E"/>
                </a:solidFill>
              </a:rPr>
              <a:t>Răspuns: revenirea după 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0E962-C9EC-4614-9C96-45768494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90600"/>
            <a:ext cx="813816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FF7F2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4F45C-BAF9-407C-886B-056CDA3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B4D3E"/>
                </a:solidFill>
              </a:defRPr>
            </a:pPr>
            <a:r>
              <a:rPr sz="975" b="1">
                <a:solidFill>
                  <a:srgbClr val="1B4D3E"/>
                </a:solidFill>
              </a:rPr>
              <a:t>ÎNTREBAREA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12894-E274-456D-93AD-BECA0D26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77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0332C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0332C"/>
                </a:solidFill>
              </a:defRPr>
            </a:pPr>
            <a:r>
              <a:rPr sz="1500" b="1">
                <a:solidFill>
                  <a:srgbClr val="20332C"/>
                </a:solidFill>
              </a:rPr>
              <a:t>La revenirea rapidă după Home se execută din nou onCreate()?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D4C37-4F8F-491B-BC6D-D5B04FC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24100"/>
            <a:ext cx="8138160" cy="14097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1B4D3E"/>
          </a:solidFill>
          <a:ln xmlns:a="http://schemas.openxmlformats.org/drawingml/2006/main" w="0">
            <a:solidFill>
              <a:srgbClr val="1B4D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17B9F-AF75-4934-B18C-39921126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3D59A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3D59A"/>
                </a:solidFill>
              </a:defRPr>
            </a:pPr>
            <a:r>
              <a:rPr sz="975" b="1">
                <a:solidFill>
                  <a:srgbClr val="63D59A"/>
                </a:solidFill>
              </a:rPr>
              <a:t>RĂSPUNS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EFB69-F62A-46FA-AE7D-DCB3086A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0000"/>
            <a:ext cx="345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De regulă, nu, dacă instanța a fost păstrată.</a:t>
            </a:r>
          </a:p>
          <a:p xmlns:a="http://schemas.openxmlformats.org/drawingml/2006/main">
            <a:r>
              <a:rPr sz="1300" b="1">
                <a:solidFill>
                  <a:srgbClr val="FFFFFF"/>
                </a:solidFill>
              </a:rPr>
              <a:t>Vedem onRestart(), onStart() și onResume().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90979-1C5F-47CC-BD1C-3EEBB406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00500"/>
            <a:ext cx="813816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2E6"/>
          </a:solidFill>
          <a:ln xmlns:a="http://schemas.openxmlformats.org/drawingml/2006/main" w="9525">
            <a:solidFill>
              <a:srgbClr val="CDE7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95B55-4268-4629-AB3D-CAC9949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B4D3E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1B4D3E"/>
                </a:solidFill>
              </a:defRPr>
            </a:pPr>
            <a:r>
              <a:rPr sz="1200">
                <a:solidFill>
                  <a:srgbClr val="1B4D3E"/>
                </a:solidFill>
              </a:rPr>
              <a:t>Android poate recrea Activity-ul în alte situații; de aceea observăm traseul real în Logcat.</a:t>
            </a:r>
          </a:p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300000" y="2480000"/>
            <a:ext cx="4200000" cy="1190000"/>
          </a:xfrm>
          <a:prstGeom prst="roundRect">
            <a:avLst>
              <a:gd name="adj" fmla="val 6000"/>
            </a:avLst>
          </a:prstGeom>
          <a:solidFill>
            <a:srgbClr val="1C2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Logcat, filtru tag:Lab02 (după Home + revenire)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MainActivity onPause</a:t>
            </a:r>
          </a:p>
          <a:p>
            <a:pPr algn="l"/>
            <a:r>
              <a:rPr sz="1000">
                <a:solidFill>
                  <a:srgbClr val="E8F3EC"/>
                </a:solidFill>
                <a:latin typeface="Courier New"/>
              </a:rPr>
              <a:t>MainActivity onStop</a:t>
            </a:r>
          </a:p>
          <a:p>
            <a:pPr algn="l"/>
            <a:r>
              <a:rPr sz="1000">
                <a:solidFill>
                  <a:srgbClr val="9BE3B0"/>
                </a:solidFill>
                <a:latin typeface="Courier New"/>
              </a:rPr>
              <a:t>MainActivity onRestart</a:t>
            </a:r>
          </a:p>
          <a:p>
            <a:pPr algn="l"/>
            <a:r>
              <a:rPr sz="1000">
                <a:solidFill>
                  <a:srgbClr val="9BE3B0"/>
                </a:solidFill>
                <a:latin typeface="Courier New"/>
              </a:rPr>
              <a:t>MainActivity onStart</a:t>
            </a:r>
          </a:p>
          <a:p>
            <a:pPr algn="l"/>
            <a:r>
              <a:rPr sz="1000">
                <a:solidFill>
                  <a:srgbClr val="9BE3B0"/>
                </a:solidFill>
                <a:latin typeface="Courier New"/>
              </a:rPr>
              <a:t>MainActivity onResume</a:t>
            </a:r>
          </a:p>
          <a:p>
            <a:pPr algn="l"/>
            <a:r>
              <a:rPr sz="1000">
                <a:solidFill>
                  <a:srgbClr val="8FB3A3"/>
                </a:solidFill>
                <a:latin typeface="Courier New"/>
              </a:rPr>
              <a:t>// onCreate nu apare din nou</a:t>
            </a:r>
          </a:p>
        </p:txBody>
      </p:sp>
    </p:spTree>
    <p:extLst>
      <p:ext uri="{BB962C8B-B14F-4D97-AF65-F5344CB8AC3E}">
        <p14:creationId xmlns:p14="http://schemas.microsoft.com/office/powerpoint/2010/main" val="7521058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8436CC6-B681-451D-AF4A-2600F0AA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B788"/>
          </a:solidFill>
          <a:ln xmlns:a="http://schemas.openxmlformats.org/drawingml/2006/main" w="12700">
            <a:solidFill>
              <a:srgbClr val="52B78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1E50FBB-175B-42E0-A34C-248B8B2B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81D"/>
                </a:solidFill>
                <a:latin typeface="Calibri"/>
                <a:ea typeface="Calibri"/>
                <a:cs typeface="Calibri"/>
              </a:rPr>
              <a:t>20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3B2A7AE-2A79-4645-9F4B-9445960F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37744"/>
            <a:ext cx="7607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B4332"/>
                </a:solidFill>
                <a:latin typeface="Cambria"/>
                <a:ea typeface="Cambria"/>
                <a:cs typeface="Cambria"/>
              </a:rPr>
              <a:t>Erori și comportamente de urmărit</a:t>
            </a:r>
            <a:endParaRPr sz="2400"/>
          </a:p>
        </p:txBody>
      </p:sp>
      <p:graphicFrame>
        <p:nvGraphicFramePr>
          <p:cNvPr id="15" name="Table 0">
            <a:extLst xmlns:a="http://schemas.openxmlformats.org/drawingml/2006/main">
              <a:ext uri="{FF2B5EF4-FFF2-40B4-BE49-F238E27FC236}">
                <a16:creationId xmlns:a16="http://schemas.microsoft.com/office/drawing/2014/main" id="{32745842-EDF0-46EF-8061-24058A495012}"/>
              </a:ext>
            </a:extLst>
          </p:cNvPr>
          <p:cNvGraphicFramePr/>
          <p:nvPr/>
        </p:nvGraphicFramePr>
        <p:xfrm>
          <a:off xmlns:a="http://schemas.openxmlformats.org/drawingml/2006/main" x="502920" y="932688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Activity nedeclarată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startActivity() poate produce ActivityNotFoundException. Identificăm excepția și linia relevantă din codul nostru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View negăsit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findViewById() poate întoarce null. Folosirea rezultatului null produce NullPointerException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  <a:ea typeface="Calibri"/>
                          <a:cs typeface="Calibri"/>
                        </a:rPr>
                        <a:t>Rotația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12A"/>
                          </a:solidFill>
                          <a:latin typeface="Calibri"/>
                          <a:ea typeface="Calibri"/>
                          <a:cs typeface="Calibri"/>
                        </a:rPr>
                        <a:t>în configurația standard recreează Activity-ul. Este un comportament normal, observabil prin callback-uri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DCE7E0"/>
                      </a:solidFill>
                      <a:prstDash val="solid"/>
                    </a:lnL>
                    <a:lnR w="9525" cmpd="sng">
                      <a:solidFill>
                        <a:srgbClr val="DCE7E0"/>
                      </a:solidFill>
                      <a:prstDash val="solid"/>
                    </a:lnR>
                    <a:lnT w="9525" cmpd="sng">
                      <a:solidFill>
                        <a:srgbClr val="DCE7E0"/>
                      </a:solidFill>
                      <a:prstDash val="solid"/>
                    </a:lnT>
                    <a:lnB w="9525" cmpd="sng">
                      <a:solidFill>
                        <a:srgbClr val="DCE7E0"/>
                      </a:solidFill>
                      <a:prstDash val="solid"/>
                    </a:lnB>
                    <a:solidFill>
                      <a:srgbClr val="F2F7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75437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Office PowerPoint</ap:Application>
  <ap:PresentationFormat>Widescreen</ap:PresentationFormat>
  <ap:Slides>20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Laboratorul 2 - Meniu si navigare</dc:title>
  <dcterms:created xsi:type="dcterms:W3CDTF">2026-10-15T08:34:17.7170000Z</dcterms:created>
  <dcterms:modified xsi:type="dcterms:W3CDTF">2026-10-15T08:34:17.7170000Z</dcterms:modified>
  <dc:description/>
</coreProperties>
</file>